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6e3d9ce17fe4dd1" /><Relationship Type="http://schemas.openxmlformats.org/officeDocument/2006/relationships/extended-properties" Target="/docProps/app.xml" Id="R205b8661485d4153" /><Relationship Type="http://schemas.openxmlformats.org/officeDocument/2006/relationships/officeDocument" Target="/ppt/presentation.xml" Id="Rfa3e218a43094cb6" /></Relationships>
</file>

<file path=ppt/presentation.xml><?xml version="1.0" encoding="utf-8"?>
<p:presentation xmlns:p="http://schemas.openxmlformats.org/presentationml/2006/main">
  <p:sldMasterIdLst>
    <p:sldMasterId xmlns:r="http://schemas.openxmlformats.org/officeDocument/2006/relationships" id="2147483648" r:id="Rfb5942e4ed4b4375"/>
  </p:sldMasterIdLst>
  <p:notesMasterIdLst>
    <p:notesMasterId xmlns:r="http://schemas.openxmlformats.org/officeDocument/2006/relationships" r:id="R1f17fc6c964e484a"/>
  </p:notesMasterIdLst>
  <p:sldIdLst>
    <p:sldId xmlns:r="http://schemas.openxmlformats.org/officeDocument/2006/relationships" id="256" r:id="R54f8b12305db47a3"/>
    <p:sldId xmlns:r="http://schemas.openxmlformats.org/officeDocument/2006/relationships" id="257" r:id="R18b53316f95f4ae4"/>
    <p:sldId xmlns:r="http://schemas.openxmlformats.org/officeDocument/2006/relationships" id="258" r:id="R5ed1017206524023"/>
    <p:sldId xmlns:r="http://schemas.openxmlformats.org/officeDocument/2006/relationships" id="259" r:id="R923bc43e8dbe4c61"/>
    <p:sldId xmlns:r="http://schemas.openxmlformats.org/officeDocument/2006/relationships" id="260" r:id="R605321eca6134deb"/>
    <p:sldId xmlns:r="http://schemas.openxmlformats.org/officeDocument/2006/relationships" id="261" r:id="Ra7af4b4b25ce4c21"/>
    <p:sldId xmlns:r="http://schemas.openxmlformats.org/officeDocument/2006/relationships" id="262" r:id="Rd84e4c7be8204320"/>
    <p:sldId xmlns:r="http://schemas.openxmlformats.org/officeDocument/2006/relationships" id="263" r:id="R9689c67d1dbf49a2"/>
    <p:sldId xmlns:r="http://schemas.openxmlformats.org/officeDocument/2006/relationships" id="264" r:id="R72cede0c13504648"/>
    <p:sldId xmlns:r="http://schemas.openxmlformats.org/officeDocument/2006/relationships" id="265" r:id="Ref34247dbb5240e9"/>
    <p:sldId xmlns:r="http://schemas.openxmlformats.org/officeDocument/2006/relationships" id="266" r:id="Ra5218d7257af4af4"/>
    <p:sldId xmlns:r="http://schemas.openxmlformats.org/officeDocument/2006/relationships" id="267" r:id="R124a039ee0174fdc"/>
    <p:sldId xmlns:r="http://schemas.openxmlformats.org/officeDocument/2006/relationships" id="268" r:id="R683b13bd80c9445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10e2801593e4616" /><Relationship Type="http://schemas.openxmlformats.org/officeDocument/2006/relationships/slideMaster" Target="/ppt/slideMasters/slideMaster1.xml" Id="Rfb5942e4ed4b4375" /><Relationship Type="http://schemas.openxmlformats.org/officeDocument/2006/relationships/notesMaster" Target="/ppt/notesMasters/notesMaster1.xml" Id="R1f17fc6c964e484a" /><Relationship Type="http://schemas.openxmlformats.org/officeDocument/2006/relationships/presProps" Target="/ppt/presProps.xml" Id="R741af561585a4823" /><Relationship Type="http://schemas.openxmlformats.org/officeDocument/2006/relationships/tableStyles" Target="/ppt/tableStyles.xml" Id="R93678cbdb1ce431b" /><Relationship Type="http://schemas.openxmlformats.org/officeDocument/2006/relationships/slide" Target="/ppt/slides/slide1.xml" Id="R54f8b12305db47a3" /><Relationship Type="http://schemas.openxmlformats.org/officeDocument/2006/relationships/slide" Target="/ppt/slides/slide2.xml" Id="R18b53316f95f4ae4" /><Relationship Type="http://schemas.openxmlformats.org/officeDocument/2006/relationships/slide" Target="/ppt/slides/slide3.xml" Id="R5ed1017206524023" /><Relationship Type="http://schemas.openxmlformats.org/officeDocument/2006/relationships/slide" Target="/ppt/slides/slide4.xml" Id="R923bc43e8dbe4c61" /><Relationship Type="http://schemas.openxmlformats.org/officeDocument/2006/relationships/slide" Target="/ppt/slides/slide5.xml" Id="R605321eca6134deb" /><Relationship Type="http://schemas.openxmlformats.org/officeDocument/2006/relationships/slide" Target="/ppt/slides/slide6.xml" Id="Ra7af4b4b25ce4c21" /><Relationship Type="http://schemas.openxmlformats.org/officeDocument/2006/relationships/slide" Target="/ppt/slides/slide7.xml" Id="Rd84e4c7be8204320" /><Relationship Type="http://schemas.openxmlformats.org/officeDocument/2006/relationships/slide" Target="/ppt/slides/slide8.xml" Id="R9689c67d1dbf49a2" /><Relationship Type="http://schemas.openxmlformats.org/officeDocument/2006/relationships/slide" Target="/ppt/slides/slide9.xml" Id="R72cede0c13504648" /><Relationship Type="http://schemas.openxmlformats.org/officeDocument/2006/relationships/slide" Target="/ppt/slides/slide10.xml" Id="Ref34247dbb5240e9" /><Relationship Type="http://schemas.openxmlformats.org/officeDocument/2006/relationships/slide" Target="/ppt/slides/slide11.xml" Id="Ra5218d7257af4af4" /><Relationship Type="http://schemas.openxmlformats.org/officeDocument/2006/relationships/slide" Target="/ppt/slides/slide12.xml" Id="R124a039ee0174fdc" /><Relationship Type="http://schemas.openxmlformats.org/officeDocument/2006/relationships/slide" Target="/ppt/slides/slide13.xml" Id="R683b13bd80c9445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e14d5514a545a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9ad2b00658c4564" /><Relationship Type="http://schemas.openxmlformats.org/officeDocument/2006/relationships/notesMaster" Target="/ppt/notesMasters/notesMaster1.xml" Id="Rf21a4dc42a5442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8b7bde4eda47a3" /><Relationship Type="http://schemas.openxmlformats.org/officeDocument/2006/relationships/notesMaster" Target="/ppt/notesMasters/notesMaster1.xml" Id="R31a9d8f894824451" /></Relationships>
</file>

<file path=ppt/notesSlides/_rels/notesSlide3.xml.rels>&#65279;<?xml version="1.0" encoding="utf-8"?><Relationships xmlns="http://schemas.openxmlformats.org/package/2006/relationships"><Relationship Type="http://schemas.openxmlformats.org/officeDocument/2006/relationships/slide" Target="/ppt/slides/slide3.xml" Id="Re46465f057f84572" /><Relationship Type="http://schemas.openxmlformats.org/officeDocument/2006/relationships/notesMaster" Target="/ppt/notesMasters/notesMaster1.xml" Id="R37c14b444c104436" /></Relationships>
</file>

<file path=ppt/notesSlides/_rels/notesSlide4.xml.rels>&#65279;<?xml version="1.0" encoding="utf-8"?><Relationships xmlns="http://schemas.openxmlformats.org/package/2006/relationships"><Relationship Type="http://schemas.openxmlformats.org/officeDocument/2006/relationships/slide" Target="/ppt/slides/slide4.xml" Id="R9e7bd079aed34990" /><Relationship Type="http://schemas.openxmlformats.org/officeDocument/2006/relationships/notesMaster" Target="/ppt/notesMasters/notesMaster1.xml" Id="Rb35e534f25244c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74638f3f05014797" /><Relationship Type="http://schemas.openxmlformats.org/officeDocument/2006/relationships/notesMaster" Target="/ppt/notesMasters/notesMaster1.xml" Id="Re4d63a3d93e94c1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9557c09f2f64df8" /><Relationship Type="http://schemas.openxmlformats.org/officeDocument/2006/relationships/notesMaster" Target="/ppt/notesMasters/notesMaster1.xml" Id="R0659fe3b46ae450c" /></Relationships>
</file>

<file path=ppt/notesSlides/_rels/notesSlide7.xml.rels>&#65279;<?xml version="1.0" encoding="utf-8"?><Relationships xmlns="http://schemas.openxmlformats.org/package/2006/relationships"><Relationship Type="http://schemas.openxmlformats.org/officeDocument/2006/relationships/slide" Target="/ppt/slides/slide7.xml" Id="Rcccee0bd4e32467a" /><Relationship Type="http://schemas.openxmlformats.org/officeDocument/2006/relationships/notesMaster" Target="/ppt/notesMasters/notesMaster1.xml" Id="Rc0e8c570ba0b4f89" /></Relationships>
</file>

<file path=ppt/notesSlides/_rels/notesSlide8.xml.rels>&#65279;<?xml version="1.0" encoding="utf-8"?><Relationships xmlns="http://schemas.openxmlformats.org/package/2006/relationships"><Relationship Type="http://schemas.openxmlformats.org/officeDocument/2006/relationships/slide" Target="/ppt/slides/slide8.xml" Id="R62fef29778eb4c4a" /><Relationship Type="http://schemas.openxmlformats.org/officeDocument/2006/relationships/notesMaster" Target="/ppt/notesMasters/notesMaster1.xml" Id="R15c0b342caeb4f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6b8033242dfe49cc" /><Relationship Type="http://schemas.openxmlformats.org/officeDocument/2006/relationships/notesMaster" Target="/ppt/notesMasters/notesMaster1.xml" Id="R3bd2e1b790da44c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053f1bcd5bc42c2" /><Relationship Type="http://schemas.openxmlformats.org/officeDocument/2006/relationships/notesMaster" Target="/ppt/notesMasters/notesMaster1.xml" Id="R7a56fc08ca31455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9f60f661f39489b" /><Relationship Type="http://schemas.openxmlformats.org/officeDocument/2006/relationships/notesMaster" Target="/ppt/notesMasters/notesMaster1.xml" Id="R6ecb44929dcf4494"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f96b0a579cf44ca" /><Relationship Type="http://schemas.openxmlformats.org/officeDocument/2006/relationships/notesMaster" Target="/ppt/notesMasters/notesMaster1.xml" Id="R4a3a8cf3782543e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11e1b8f0d164637" /><Relationship Type="http://schemas.openxmlformats.org/officeDocument/2006/relationships/notesMaster" Target="/ppt/notesMasters/notesMaster1.xml" Id="R2a3598322e0e4d7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Team list retained from the supplied Phase 1 PDF. Local application uses FOOD_PROJECT on Oracle XE.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The course overview assigns 2 marks to each of DDL, DML, front end, business logic and initial connectivity. The Phase 2 detail slide shows the first four rows; the stage-wise rubric includes initial connectivity.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PK identifies a row. FK references its parent. UQ is a unique candidate key. Subtypes inherit the APP_USER identifier.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ORDER_ITEM has composite PK(order_id,item_id). PAYMENT.order_id is unique. DELIVERY.order_id is a shared PK/FK. A missing row represents optional payment or delivery. Derived order totals are not stored in the normalized base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The complete script uses NUMBER, VARCHAR2, TIMESTAMP and named constraints. The fresh FOOD_PROJECT account has a 20 MB USERS quota and permissions to create tables and sequences. The setup prevents creation under SYS/SYSTEM and prevents rerunning in a schema with project tables.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Counts include the retained browser demonstration order 2005 and precede any later user modifications. Before that demo, FOOD_ORDER=4, ORDER_ITEM=7 and PAYMENT=4. All fixture data is fictional.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Totals verified through Oracle queries. Order 2005 initially has status PLACED and payment PENDING. Seed orders have fees of 20 or 30; new browser orders use 30. The service test changes current menu price and confirms old order totals remain unchanged.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The user requested a simple black-and-white layout with written food descriptions and no food photographs. Customer selection is a classroom demo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Names, prices, categories and availability come from Oracle. Descriptions are frontend explanatory text for the fictional menu. The browser displays the total while the server reads and captures prices at checkout.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Live browser test performed through http://127.0.0.1:8788. It inserted a header, two item rows and a pending cash payment. My orders showed the generated ID, destination and total. This is actual database evidence, not browser demo mode.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Browser uses a loopback Java HTTP server. WebServer adapts requests to FoodService. FoodService connects with DriverManager and uses PreparedStatement. The Oracle password stays server-side in local private configuration.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These cross-table rules require the Java service. Declared PK/FK/CHECK constraints remain active in Oracle. Direct administrator SQL can bypass service-only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Phase1/RELATIONAL_SCHEMA.md, Food-Delivery-System.pdf and BACSE202_Course_Project_Overview.pdf. Implementation and evidence: Phase2Database and Phase2App in the local DBS PROJECT folder. All sample people and orders are fictional. 46 checks passed against the fresh FOOD_PROJECT schema using the same copied FoodService and Phase2Test sources. The count comprises 37 checks for behavior/constraints and 9 checks confirming original table row counts after cleanup. Service tests complete cash and online workflows. Retained order 2005 was shown PLACED; later UI actions may change 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e2ac7d8f6fe4f4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f7a4fcf402944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e5b958d694495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fca9bfe08c7400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b1ae2512d5480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75b1168550c451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BA1B46E-41CD-4E59-AEA5-590A8988BAD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90847C7-DD49-429F-B324-0F29586C80C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CF16603-E4BA-46A1-BDA5-FB1BFED6758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69181D-DF56-4DD6-8C60-EDF29D56042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0F138255-9083-4E31-A46B-8A43BBAD805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D141138-1C41-4C33-A20F-F4B23F6EB07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5DBD7A-F985-43B9-BD0D-AA8729FCB13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A0A8C01-940F-46C6-A496-EA0D5F07873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A6DC09A-AE49-44D0-B03A-1E086FE862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305CDD-FB4C-4A7A-A945-0E6EA5134EF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d700a48e574301" /><Relationship Type="http://schemas.openxmlformats.org/officeDocument/2006/relationships/slideLayout" Target="/ppt/slideLayouts/slideLayout1.xml" Id="R6005369c4c294b1e" /><Relationship Type="http://schemas.openxmlformats.org/officeDocument/2006/relationships/slideLayout" Target="/ppt/slideLayouts/slideLayout2.xml" Id="R03deb4f5eb9141ee" /><Relationship Type="http://schemas.openxmlformats.org/officeDocument/2006/relationships/slideLayout" Target="/ppt/slideLayouts/slideLayout3.xml" Id="R4d69c74e388d4269" /><Relationship Type="http://schemas.openxmlformats.org/officeDocument/2006/relationships/slideLayout" Target="/ppt/slideLayouts/slideLayout4.xml" Id="Re331278219374bd0" /><Relationship Type="http://schemas.openxmlformats.org/officeDocument/2006/relationships/slideLayout" Target="/ppt/slideLayouts/slideLayout5.xml" Id="Re9992b06dccf4059" /><Relationship Type="http://schemas.openxmlformats.org/officeDocument/2006/relationships/slideLayout" Target="/ppt/slideLayouts/slideLayout6.xml" Id="Ra29843f52637463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05369c4c294b1e"/>
    <p:sldLayoutId xmlns:r="http://schemas.openxmlformats.org/officeDocument/2006/relationships" id="2147483650" r:id="R03deb4f5eb9141ee"/>
    <p:sldLayoutId xmlns:r="http://schemas.openxmlformats.org/officeDocument/2006/relationships" id="2147483651" r:id="R4d69c74e388d4269"/>
    <p:sldLayoutId xmlns:r="http://schemas.openxmlformats.org/officeDocument/2006/relationships" id="2147483652" r:id="Re331278219374bd0"/>
    <p:sldLayoutId xmlns:r="http://schemas.openxmlformats.org/officeDocument/2006/relationships" id="2147483653" r:id="Re9992b06dccf4059"/>
    <p:sldLayoutId xmlns:r="http://schemas.openxmlformats.org/officeDocument/2006/relationships" id="2147483654" r:id="Ra29843f52637463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9d324225bfd46cc" /><Relationship Type="http://schemas.openxmlformats.org/officeDocument/2006/relationships/notesSlide" Target="/ppt/notesSlides/notesSlide1.xml" Id="R1d3a5dd820a74cf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71b8ea7e7d443a" /><Relationship Type="http://schemas.openxmlformats.org/officeDocument/2006/relationships/notesSlide" Target="/ppt/notesSlides/notesSlide2.xml" Id="R5bfdb25ee4804834"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a0178cf92ee4f29" /><Relationship Type="http://schemas.openxmlformats.org/officeDocument/2006/relationships/notesSlide" Target="/ppt/notesSlides/notesSlide3.xml" Id="R807fcbd7d69541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2f31e484a6844af" /><Relationship Type="http://schemas.openxmlformats.org/officeDocument/2006/relationships/notesSlide" Target="/ppt/notesSlides/notesSlide4.xml" Id="R41bbfaf7226a45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52e4d4527f54a6a" /><Relationship Type="http://schemas.openxmlformats.org/officeDocument/2006/relationships/notesSlide" Target="/ppt/notesSlides/notesSlide5.xml" Id="R2cffc5b4b316400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e1ca103700324dbe" /><Relationship Type="http://schemas.openxmlformats.org/officeDocument/2006/relationships/notesSlide" Target="/ppt/notesSlides/notesSlide6.xml" Id="R6d35e164ec41442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6a0786a90794cec" /><Relationship Type="http://schemas.openxmlformats.org/officeDocument/2006/relationships/notesSlide" Target="/ppt/notesSlides/notesSlide7.xml" Id="R1c2f585c6bc144d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e1494305b8249be" /><Relationship Type="http://schemas.openxmlformats.org/officeDocument/2006/relationships/image" Target="/ppt/media/image.jpeg" Id="R67abe58a396a4540" /><Relationship Type="http://schemas.openxmlformats.org/officeDocument/2006/relationships/notesSlide" Target="/ppt/notesSlides/notesSlide8.xml" Id="R154454facacb424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cd8686ee7cf4316" /><Relationship Type="http://schemas.openxmlformats.org/officeDocument/2006/relationships/image" Target="/ppt/media/image2.jpeg" Id="R1bb7ecff82604d41" /><Relationship Type="http://schemas.openxmlformats.org/officeDocument/2006/relationships/notesSlide" Target="/ppt/notesSlides/notesSlide9.xml" Id="Rc59ebfc7dea44ba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e16157d4e154f6f" /><Relationship Type="http://schemas.openxmlformats.org/officeDocument/2006/relationships/image" Target="/ppt/media/image3.jpeg" Id="R9ab060b5fc9c4d9c" /><Relationship Type="http://schemas.openxmlformats.org/officeDocument/2006/relationships/notesSlide" Target="/ppt/notesSlides/notesSlide10.xml" Id="R155c5c41baad443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7e8eaa53ab849c8" /><Relationship Type="http://schemas.openxmlformats.org/officeDocument/2006/relationships/notesSlide" Target="/ppt/notesSlides/notesSlide11.xml" Id="Rb9e8cfc4a5f541b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758574cfd1bb426a" /><Relationship Type="http://schemas.openxmlformats.org/officeDocument/2006/relationships/notesSlide" Target="/ppt/notesSlides/notesSlide12.xml" Id="Rbe2c128ea8fe49f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5613d271aba34031" /><Relationship Type="http://schemas.openxmlformats.org/officeDocument/2006/relationships/notesSlide" Target="/ppt/notesSlides/notesSlide13.xml" Id="Ra868f32a86a142d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1">
            <a:extLst xmlns:a="http://schemas.openxmlformats.org/drawingml/2006/main">
              <a:ext uri="{FF2B5EF4-FFF2-40B4-BE49-F238E27FC236}">
                <a16:creationId xmlns:a16="http://schemas.microsoft.com/office/drawing/2014/main" id="{0A7FEF7E-26FC-4757-96FF-68C8367846C4}"/>
              </a:ext>
            </a:extLst>
          </p:cNvPr>
          <p:cNvSpPr>
            <a:spLocks xmlns:a="http://schemas.openxmlformats.org/drawingml/2006/main" noGrp="1"/>
          </p:cNvSpPr>
          <p:nvPr/>
        </p:nvSpPr>
        <p:spPr>
          <a:xfrm xmlns:a="http://schemas.openxmlformats.org/drawingml/2006/main">
            <a:off x="609600" y="1095375"/>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4650" b="1">
                <a:solidFill>
                  <a:srgbClr val="171717"/>
                </a:solidFill>
                <a:latin typeface="Arial"/>
                <a:ea typeface="Arial"/>
                <a:cs typeface="Arial"/>
              </a:defRPr>
            </a:defPPr>
          </a:lstStyle>
          <a:p xmlns:a="http://schemas.openxmlformats.org/drawingml/2006/main">
            <a:pPr>
              <a:defRPr sz="4650" b="1">
                <a:solidFill>
                  <a:srgbClr val="171717"/>
                </a:solidFill>
                <a:latin typeface="Arial"/>
                <a:ea typeface="Arial"/>
                <a:cs typeface="Arial"/>
              </a:defRPr>
            </a:pPr>
            <a:r>
              <a:rPr sz="4650" b="1">
                <a:solidFill>
                  <a:srgbClr val="171717"/>
                </a:solidFill>
                <a:latin typeface="Arial"/>
                <a:ea typeface="Arial"/>
                <a:cs typeface="Arial"/>
              </a:rPr>
              <a:t>Food Delivery System</a:t>
            </a:r>
          </a:p>
        </p:txBody>
      </p:sp>
      <p:sp>
        <p:nvSpPr>
          <p:cNvPr id="2" name="text-2">
            <a:extLst xmlns:a="http://schemas.openxmlformats.org/drawingml/2006/main">
              <a:ext uri="{FF2B5EF4-FFF2-40B4-BE49-F238E27FC236}">
                <a16:creationId xmlns:a16="http://schemas.microsoft.com/office/drawing/2014/main" id="{27BF0BCB-5EE1-46AC-9D33-32BD6C8971D7}"/>
              </a:ext>
            </a:extLst>
          </p:cNvPr>
          <p:cNvSpPr>
            <a:spLocks xmlns:a="http://schemas.openxmlformats.org/drawingml/2006/main" noGrp="1"/>
          </p:cNvSpPr>
          <p:nvPr/>
        </p:nvSpPr>
        <p:spPr>
          <a:xfrm xmlns:a="http://schemas.openxmlformats.org/drawingml/2006/main">
            <a:off x="647700" y="23050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850" b="0">
                <a:solidFill>
                  <a:srgbClr val="171717"/>
                </a:solidFill>
                <a:latin typeface="Arial"/>
                <a:ea typeface="Arial"/>
                <a:cs typeface="Arial"/>
              </a:defRPr>
            </a:defPPr>
          </a:lstStyle>
          <a:p xmlns:a="http://schemas.openxmlformats.org/drawingml/2006/main">
            <a:pPr>
              <a:defRPr sz="2850" b="0">
                <a:solidFill>
                  <a:srgbClr val="171717"/>
                </a:solidFill>
                <a:latin typeface="Arial"/>
                <a:ea typeface="Arial"/>
                <a:cs typeface="Arial"/>
              </a:defRPr>
            </a:pPr>
            <a:r>
              <a:rPr sz="2850" b="0">
                <a:solidFill>
                  <a:srgbClr val="171717"/>
                </a:solidFill>
                <a:latin typeface="Arial"/>
                <a:ea typeface="Arial"/>
                <a:cs typeface="Arial"/>
              </a:rPr>
              <a:t>Phase 2: Implementation Core</a:t>
            </a:r>
          </a:p>
        </p:txBody>
      </p:sp>
      <p:sp>
        <p:nvSpPr>
          <p:cNvPr id="3" name="text-3">
            <a:extLst xmlns:a="http://schemas.openxmlformats.org/drawingml/2006/main">
              <a:ext uri="{FF2B5EF4-FFF2-40B4-BE49-F238E27FC236}">
                <a16:creationId xmlns:a16="http://schemas.microsoft.com/office/drawing/2014/main" id="{BA7E4BAC-A5B0-4FFD-B32E-2D70B71B6565}"/>
              </a:ext>
            </a:extLst>
          </p:cNvPr>
          <p:cNvSpPr>
            <a:spLocks xmlns:a="http://schemas.openxmlformats.org/drawingml/2006/main" noGrp="1"/>
          </p:cNvSpPr>
          <p:nvPr/>
        </p:nvSpPr>
        <p:spPr>
          <a:xfrm xmlns:a="http://schemas.openxmlformats.org/drawingml/2006/main">
            <a:off x="647700" y="3162300"/>
            <a:ext cx="10668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0">
                <a:solidFill>
                  <a:srgbClr val="555555"/>
                </a:solidFill>
                <a:latin typeface="Arial"/>
                <a:ea typeface="Arial"/>
                <a:cs typeface="Arial"/>
              </a:defRPr>
            </a:defPPr>
          </a:lstStyle>
          <a:p xmlns:a="http://schemas.openxmlformats.org/drawingml/2006/main">
            <a:pPr>
              <a:defRPr sz="2100" b="0">
                <a:solidFill>
                  <a:srgbClr val="555555"/>
                </a:solidFill>
                <a:latin typeface="Arial"/>
                <a:ea typeface="Arial"/>
                <a:cs typeface="Arial"/>
              </a:defRPr>
            </a:pPr>
            <a:r>
              <a:rPr sz="2100" b="0">
                <a:solidFill>
                  <a:srgbClr val="555555"/>
                </a:solidFill>
                <a:latin typeface="Arial"/>
                <a:ea typeface="Arial"/>
                <a:cs typeface="Arial"/>
              </a:rPr>
              <a:t>BACSE202 Database Systems</a:t>
            </a:r>
          </a:p>
        </p:txBody>
      </p:sp>
      <p:sp>
        <p:nvSpPr>
          <p:cNvPr id="4" name="text-4">
            <a:extLst xmlns:a="http://schemas.openxmlformats.org/drawingml/2006/main">
              <a:ext uri="{FF2B5EF4-FFF2-40B4-BE49-F238E27FC236}">
                <a16:creationId xmlns:a16="http://schemas.microsoft.com/office/drawing/2014/main" id="{F97DA25B-5212-4BD2-86C4-85E10D53B17A}"/>
              </a:ext>
            </a:extLst>
          </p:cNvPr>
          <p:cNvSpPr>
            <a:spLocks xmlns:a="http://schemas.openxmlformats.org/drawingml/2006/main" noGrp="1"/>
          </p:cNvSpPr>
          <p:nvPr/>
        </p:nvSpPr>
        <p:spPr>
          <a:xfrm xmlns:a="http://schemas.openxmlformats.org/drawingml/2006/main">
            <a:off x="647700" y="4210050"/>
            <a:ext cx="10477500"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1717"/>
                </a:solidFill>
                <a:latin typeface="Arial"/>
                <a:ea typeface="Arial"/>
                <a:cs typeface="Arial"/>
              </a:defRPr>
            </a:defPPr>
          </a:lstStyle>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Aaron Robertson  25BCE2640</a:t>
            </a:r>
          </a:p>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Ark Khandelwal  25BCE2094</a:t>
            </a:r>
          </a:p>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Priyansh Asati  25BDS0268</a:t>
            </a:r>
          </a:p>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Ansh Kapoor  25BCE2281</a:t>
            </a:r>
          </a:p>
        </p:txBody>
      </p:sp>
    </p:spTree>
    <p:extLst>
      <p:ext uri="{BB962C8B-B14F-4D97-AF65-F5344CB8AC3E}">
        <p14:creationId xmlns:p14="http://schemas.microsoft.com/office/powerpoint/2010/main" val="134072599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5">
            <a:extLst xmlns:a="http://schemas.openxmlformats.org/drawingml/2006/main">
              <a:ext uri="{FF2B5EF4-FFF2-40B4-BE49-F238E27FC236}">
                <a16:creationId xmlns:a16="http://schemas.microsoft.com/office/drawing/2014/main" id="{B2797260-C4E0-4D24-9B5D-D932A473E044}"/>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Phase 2 deliverables</a:t>
            </a:r>
          </a:p>
        </p:txBody>
      </p:sp>
      <p:sp>
        <p:nvSpPr>
          <p:cNvPr id="2" name="text-6">
            <a:extLst xmlns:a="http://schemas.openxmlformats.org/drawingml/2006/main">
              <a:ext uri="{FF2B5EF4-FFF2-40B4-BE49-F238E27FC236}">
                <a16:creationId xmlns:a16="http://schemas.microsoft.com/office/drawing/2014/main" id="{73B20701-B7CA-4977-9B8F-3C6B2F3B54E5}"/>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02</a:t>
            </a:r>
          </a:p>
        </p:txBody>
      </p:sp>
      <p:graphicFrame>
        <p:nvGraphicFramePr>
          <p:cNvPr id="3" name="">
            <a:extLst xmlns:a="http://schemas.openxmlformats.org/drawingml/2006/main">
              <a:ext uri="{FF2B5EF4-FFF2-40B4-BE49-F238E27FC236}">
                <a16:creationId xmlns:a16="http://schemas.microsoft.com/office/drawing/2014/main" id="{5A482B42-9A24-4AB1-A066-6100A05648E4}"/>
              </a:ext>
            </a:extLst>
          </p:cNvPr>
          <p:cNvGraphicFramePr/>
          <p:nvPr/>
        </p:nvGraphicFramePr>
        <p:xfrm>
          <a:off xmlns:a="http://schemas.openxmlformats.org/drawingml/2006/main" x="571500" y="1428750"/>
          <a:ext xmlns:a="http://schemas.openxmlformats.org/drawingml/2006/main" cx="11049000" cy="4333875"/>
        </p:xfrm>
        <a:graphic xmlns:a="http://schemas.openxmlformats.org/drawingml/2006/main">
          <a:graphicData uri="http://schemas.openxmlformats.org/drawingml/2006/table">
            <a:tbl>
              <a:tblPr/>
              <a:tblGrid>
                <a:gridCol w="2571750"/>
                <a:gridCol w="7334250"/>
                <a:gridCol w="1143000"/>
              </a:tblGrid>
              <a:tr h="722313">
                <a:tc>
                  <a:txBody>
                    <a:bodyPr/>
                    <a:lstStyle/>
                    <a:p>
                      <a:r>
                        <a:rPr sz="1875" b="1">
                          <a:solidFill>
                            <a:srgbClr val="171717"/>
                          </a:solidFill>
                          <a:latin typeface="Arial"/>
                          <a:ea typeface="Arial"/>
                          <a:cs typeface="Arial"/>
                        </a:rPr>
                        <a:t>Area</a:t>
                      </a:r>
                    </a:p>
                  </a:txBody>
                  <a:tcPr marL="91440" marR="91440" marT="45720" marB="45720">
                    <a:lnL w="9525">
                      <a:solidFill>
                        <a:srgbClr val="D6D6D6"/>
                      </a:solidFill>
                      <a:prstDash val="solid"/>
                    </a:lnL>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c>
                  <a:txBody>
                    <a:bodyPr/>
                    <a:lstStyle/>
                    <a:p>
                      <a:r>
                        <a:rPr sz="1875" b="1">
                          <a:solidFill>
                            <a:srgbClr val="171717"/>
                          </a:solidFill>
                          <a:latin typeface="Arial"/>
                          <a:ea typeface="Arial"/>
                          <a:cs typeface="Arial"/>
                        </a:rPr>
                        <a:t>Implemented evidence</a:t>
                      </a:r>
                    </a:p>
                  </a:txBody>
                  <a:tcPr marL="91440" marR="91440" marT="45720" marB="45720">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c>
                  <a:txBody>
                    <a:bodyPr/>
                    <a:lstStyle/>
                    <a:p>
                      <a:r>
                        <a:rPr sz="1875" b="1">
                          <a:solidFill>
                            <a:srgbClr val="171717"/>
                          </a:solidFill>
                          <a:latin typeface="Arial"/>
                          <a:ea typeface="Arial"/>
                          <a:cs typeface="Arial"/>
                        </a:rPr>
                        <a:t>Marks</a:t>
                      </a:r>
                    </a:p>
                  </a:txBody>
                  <a:tcPr marL="91440" marR="91440" marT="45720" marB="45720">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r>
              <a:tr h="722313">
                <a:tc>
                  <a:txBody>
                    <a:bodyPr/>
                    <a:lstStyle/>
                    <a:p>
                      <a:r>
                        <a:rPr sz="1875" b="0">
                          <a:solidFill>
                            <a:srgbClr val="171717"/>
                          </a:solidFill>
                          <a:latin typeface="Arial"/>
                          <a:ea typeface="Arial"/>
                          <a:cs typeface="Arial"/>
                        </a:rPr>
                        <a:t>Table creation</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Nine Oracle tables with constraints</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2</a:t>
                      </a:r>
                    </a:p>
                  </a:txBody>
                  <a:tcPr marL="91440" marR="91440" marT="45720" marB="45720">
                    <a:lnR w="9525">
                      <a:solidFill>
                        <a:srgbClr val="D6D6D6"/>
                      </a:solidFill>
                      <a:prstDash val="solid"/>
                    </a:lnR>
                    <a:lnB w="9525">
                      <a:solidFill>
                        <a:srgbClr val="D6D6D6"/>
                      </a:solidFill>
                      <a:prstDash val="solid"/>
                    </a:lnB>
                    <a:solidFill>
                      <a:srgbClr val="FFFFFF"/>
                    </a:solidFill>
                  </a:tcPr>
                </a:tc>
              </a:tr>
              <a:tr h="722313">
                <a:tc>
                  <a:txBody>
                    <a:bodyPr/>
                    <a:lstStyle/>
                    <a:p>
                      <a:r>
                        <a:rPr sz="1875" b="0">
                          <a:solidFill>
                            <a:srgbClr val="171717"/>
                          </a:solidFill>
                          <a:latin typeface="Arial"/>
                          <a:ea typeface="Arial"/>
                          <a:cs typeface="Arial"/>
                        </a:rPr>
                        <a:t>Data population</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Fictional users, menus, orders and deliveries</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2</a:t>
                      </a:r>
                    </a:p>
                  </a:txBody>
                  <a:tcPr marL="91440" marR="91440" marT="45720" marB="45720">
                    <a:lnR w="9525">
                      <a:solidFill>
                        <a:srgbClr val="D6D6D6"/>
                      </a:solidFill>
                      <a:prstDash val="solid"/>
                    </a:lnR>
                    <a:lnB w="9525">
                      <a:solidFill>
                        <a:srgbClr val="D6D6D6"/>
                      </a:solidFill>
                      <a:prstDash val="solid"/>
                    </a:lnB>
                    <a:solidFill>
                      <a:srgbClr val="FFFFFF"/>
                    </a:solidFill>
                  </a:tcPr>
                </a:tc>
              </a:tr>
              <a:tr h="722313">
                <a:tc>
                  <a:txBody>
                    <a:bodyPr/>
                    <a:lstStyle/>
                    <a:p>
                      <a:r>
                        <a:rPr sz="1875" b="0">
                          <a:solidFill>
                            <a:srgbClr val="171717"/>
                          </a:solidFill>
                          <a:latin typeface="Arial"/>
                          <a:ea typeface="Arial"/>
                          <a:cs typeface="Arial"/>
                        </a:rPr>
                        <a:t>Front end</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Black-and-white browser interface</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2</a:t>
                      </a:r>
                    </a:p>
                  </a:txBody>
                  <a:tcPr marL="91440" marR="91440" marT="45720" marB="45720">
                    <a:lnR w="9525">
                      <a:solidFill>
                        <a:srgbClr val="D6D6D6"/>
                      </a:solidFill>
                      <a:prstDash val="solid"/>
                    </a:lnR>
                    <a:lnB w="9525">
                      <a:solidFill>
                        <a:srgbClr val="D6D6D6"/>
                      </a:solidFill>
                      <a:prstDash val="solid"/>
                    </a:lnB>
                    <a:solidFill>
                      <a:srgbClr val="FFFFFF"/>
                    </a:solidFill>
                  </a:tcPr>
                </a:tc>
              </a:tr>
              <a:tr h="722313">
                <a:tc>
                  <a:txBody>
                    <a:bodyPr/>
                    <a:lstStyle/>
                    <a:p>
                      <a:r>
                        <a:rPr sz="1875" b="0">
                          <a:solidFill>
                            <a:srgbClr val="171717"/>
                          </a:solidFill>
                          <a:latin typeface="Arial"/>
                          <a:ea typeface="Arial"/>
                          <a:cs typeface="Arial"/>
                        </a:rPr>
                        <a:t>Business logic</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Transactional Java service and workflow rules</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2</a:t>
                      </a:r>
                    </a:p>
                  </a:txBody>
                  <a:tcPr marL="91440" marR="91440" marT="45720" marB="45720">
                    <a:lnR w="9525">
                      <a:solidFill>
                        <a:srgbClr val="D6D6D6"/>
                      </a:solidFill>
                      <a:prstDash val="solid"/>
                    </a:lnR>
                    <a:lnB w="9525">
                      <a:solidFill>
                        <a:srgbClr val="D6D6D6"/>
                      </a:solidFill>
                      <a:prstDash val="solid"/>
                    </a:lnB>
                    <a:solidFill>
                      <a:srgbClr val="FFFFFF"/>
                    </a:solidFill>
                  </a:tcPr>
                </a:tc>
              </a:tr>
              <a:tr h="722313">
                <a:tc>
                  <a:txBody>
                    <a:bodyPr/>
                    <a:lstStyle/>
                    <a:p>
                      <a:r>
                        <a:rPr sz="1875" b="0">
                          <a:solidFill>
                            <a:srgbClr val="171717"/>
                          </a:solidFill>
                          <a:latin typeface="Arial"/>
                          <a:ea typeface="Arial"/>
                          <a:cs typeface="Arial"/>
                        </a:rPr>
                        <a:t>Initial connectivity</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SELECT, INSERT and UPDATE through JDBC</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2</a:t>
                      </a:r>
                    </a:p>
                  </a:txBody>
                  <a:tcPr marL="91440" marR="91440" marT="45720" marB="45720">
                    <a:lnR w="9525">
                      <a:solidFill>
                        <a:srgbClr val="D6D6D6"/>
                      </a:solidFill>
                      <a:prstDash val="solid"/>
                    </a:lnR>
                    <a:lnB w="9525">
                      <a:solidFill>
                        <a:srgbClr val="D6D6D6"/>
                      </a:solidFill>
                      <a:prstDash val="solid"/>
                    </a:lnB>
                    <a:solidFill>
                      <a:srgbClr val="FFFFFF"/>
                    </a:solidFill>
                  </a:tcPr>
                </a:tc>
              </a:tr>
            </a:tbl>
          </a:graphicData>
        </a:graphic>
      </p:graphicFrame>
    </p:spTree>
    <p:extLst>
      <p:ext uri="{BB962C8B-B14F-4D97-AF65-F5344CB8AC3E}">
        <p14:creationId xmlns:p14="http://schemas.microsoft.com/office/powerpoint/2010/main" val="87208088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7">
            <a:extLst xmlns:a="http://schemas.openxmlformats.org/drawingml/2006/main">
              <a:ext uri="{FF2B5EF4-FFF2-40B4-BE49-F238E27FC236}">
                <a16:creationId xmlns:a16="http://schemas.microsoft.com/office/drawing/2014/main" id="{096CB08F-E95A-4EED-A0C4-F498E6F6DE1E}"/>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Relations: accounts and restaurant catalog</a:t>
            </a:r>
          </a:p>
        </p:txBody>
      </p:sp>
      <p:sp>
        <p:nvSpPr>
          <p:cNvPr id="2" name="text-8">
            <a:extLst xmlns:a="http://schemas.openxmlformats.org/drawingml/2006/main">
              <a:ext uri="{FF2B5EF4-FFF2-40B4-BE49-F238E27FC236}">
                <a16:creationId xmlns:a16="http://schemas.microsoft.com/office/drawing/2014/main" id="{A649577D-4A64-4131-91F5-E8896D05BA9F}"/>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03</a:t>
            </a:r>
          </a:p>
        </p:txBody>
      </p:sp>
      <p:graphicFrame>
        <p:nvGraphicFramePr>
          <p:cNvPr id="3" name="">
            <a:extLst xmlns:a="http://schemas.openxmlformats.org/drawingml/2006/main">
              <a:ext uri="{FF2B5EF4-FFF2-40B4-BE49-F238E27FC236}">
                <a16:creationId xmlns:a16="http://schemas.microsoft.com/office/drawing/2014/main" id="{46F0F374-E214-434D-BF61-962C23ACF9E6}"/>
              </a:ext>
            </a:extLst>
          </p:cNvPr>
          <p:cNvGraphicFramePr/>
          <p:nvPr/>
        </p:nvGraphicFramePr>
        <p:xfrm>
          <a:off xmlns:a="http://schemas.openxmlformats.org/drawingml/2006/main" x="571500" y="1428750"/>
          <a:ext xmlns:a="http://schemas.openxmlformats.org/drawingml/2006/main" cx="11049000" cy="4333875"/>
        </p:xfrm>
        <a:graphic xmlns:a="http://schemas.openxmlformats.org/drawingml/2006/main">
          <a:graphicData uri="http://schemas.openxmlformats.org/drawingml/2006/table">
            <a:tbl>
              <a:tblPr/>
              <a:tblGrid>
                <a:gridCol w="2857500"/>
                <a:gridCol w="8191500"/>
              </a:tblGrid>
              <a:tr h="722313">
                <a:tc>
                  <a:txBody>
                    <a:bodyPr/>
                    <a:lstStyle/>
                    <a:p>
                      <a:r>
                        <a:rPr sz="1800" b="1">
                          <a:solidFill>
                            <a:srgbClr val="171717"/>
                          </a:solidFill>
                          <a:latin typeface="Arial"/>
                          <a:ea typeface="Arial"/>
                          <a:cs typeface="Arial"/>
                        </a:rPr>
                        <a:t>Relation</a:t>
                      </a:r>
                    </a:p>
                  </a:txBody>
                  <a:tcPr marL="91440" marR="91440" marT="45720" marB="45720">
                    <a:lnL w="9525">
                      <a:solidFill>
                        <a:srgbClr val="D6D6D6"/>
                      </a:solidFill>
                      <a:prstDash val="solid"/>
                    </a:lnL>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c>
                  <a:txBody>
                    <a:bodyPr/>
                    <a:lstStyle/>
                    <a:p>
                      <a:r>
                        <a:rPr sz="1800" b="1">
                          <a:solidFill>
                            <a:srgbClr val="171717"/>
                          </a:solidFill>
                          <a:latin typeface="Arial"/>
                          <a:ea typeface="Arial"/>
                          <a:cs typeface="Arial"/>
                        </a:rPr>
                        <a:t>Attributes and keys</a:t>
                      </a:r>
                    </a:p>
                  </a:txBody>
                  <a:tcPr marL="91440" marR="91440" marT="45720" marB="45720">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r>
              <a:tr h="722313">
                <a:tc>
                  <a:txBody>
                    <a:bodyPr/>
                    <a:lstStyle/>
                    <a:p>
                      <a:r>
                        <a:rPr sz="1800" b="0">
                          <a:solidFill>
                            <a:srgbClr val="171717"/>
                          </a:solidFill>
                          <a:latin typeface="Arial"/>
                          <a:ea typeface="Arial"/>
                          <a:cs typeface="Arial"/>
                        </a:rPr>
                        <a:t>APP_USER</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user_id PK, full_name, email UQ, phone</a:t>
                      </a:r>
                    </a:p>
                  </a:txBody>
                  <a:tcPr marL="91440" marR="91440" marT="45720" marB="45720">
                    <a:lnR w="9525">
                      <a:solidFill>
                        <a:srgbClr val="D6D6D6"/>
                      </a:solidFill>
                      <a:prstDash val="solid"/>
                    </a:lnR>
                    <a:lnB w="9525">
                      <a:solidFill>
                        <a:srgbClr val="D6D6D6"/>
                      </a:solidFill>
                      <a:prstDash val="solid"/>
                    </a:lnB>
                    <a:solidFill>
                      <a:srgbClr val="FFFFFF"/>
                    </a:solidFill>
                  </a:tcPr>
                </a:tc>
              </a:tr>
              <a:tr h="722313">
                <a:tc>
                  <a:txBody>
                    <a:bodyPr/>
                    <a:lstStyle/>
                    <a:p>
                      <a:r>
                        <a:rPr sz="1800" b="0">
                          <a:solidFill>
                            <a:srgbClr val="171717"/>
                          </a:solidFill>
                          <a:latin typeface="Arial"/>
                          <a:ea typeface="Arial"/>
                          <a:cs typeface="Arial"/>
                        </a:rPr>
                        <a:t>CUSTOMER</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user_id PK/FK, customer_since</a:t>
                      </a:r>
                    </a:p>
                  </a:txBody>
                  <a:tcPr marL="91440" marR="91440" marT="45720" marB="45720">
                    <a:lnR w="9525">
                      <a:solidFill>
                        <a:srgbClr val="D6D6D6"/>
                      </a:solidFill>
                      <a:prstDash val="solid"/>
                    </a:lnR>
                    <a:lnB w="9525">
                      <a:solidFill>
                        <a:srgbClr val="D6D6D6"/>
                      </a:solidFill>
                      <a:prstDash val="solid"/>
                    </a:lnB>
                    <a:solidFill>
                      <a:srgbClr val="FFFFFF"/>
                    </a:solidFill>
                  </a:tcPr>
                </a:tc>
              </a:tr>
              <a:tr h="722313">
                <a:tc>
                  <a:txBody>
                    <a:bodyPr/>
                    <a:lstStyle/>
                    <a:p>
                      <a:r>
                        <a:rPr sz="1800" b="0">
                          <a:solidFill>
                            <a:srgbClr val="171717"/>
                          </a:solidFill>
                          <a:latin typeface="Arial"/>
                          <a:ea typeface="Arial"/>
                          <a:cs typeface="Arial"/>
                        </a:rPr>
                        <a:t>DELIVERY_PARTNER</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user_id PK/FK, transport_mode, availability_status</a:t>
                      </a:r>
                    </a:p>
                  </a:txBody>
                  <a:tcPr marL="91440" marR="91440" marT="45720" marB="45720">
                    <a:lnR w="9525">
                      <a:solidFill>
                        <a:srgbClr val="D6D6D6"/>
                      </a:solidFill>
                      <a:prstDash val="solid"/>
                    </a:lnR>
                    <a:lnB w="9525">
                      <a:solidFill>
                        <a:srgbClr val="D6D6D6"/>
                      </a:solidFill>
                      <a:prstDash val="solid"/>
                    </a:lnB>
                    <a:solidFill>
                      <a:srgbClr val="FFFFFF"/>
                    </a:solidFill>
                  </a:tcPr>
                </a:tc>
              </a:tr>
              <a:tr h="722313">
                <a:tc>
                  <a:txBody>
                    <a:bodyPr/>
                    <a:lstStyle/>
                    <a:p>
                      <a:r>
                        <a:rPr sz="1800" b="0">
                          <a:solidFill>
                            <a:srgbClr val="171717"/>
                          </a:solidFill>
                          <a:latin typeface="Arial"/>
                          <a:ea typeface="Arial"/>
                          <a:cs typeface="Arial"/>
                        </a:rPr>
                        <a:t>RESTAURANT</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restaurant_id PK, restaurant_name, address_line,</a:t>
                      </a:r>
                    </a:p>
                    <a:p>
                      <a:r>
                        <a:rPr sz="1800" b="0">
                          <a:solidFill>
                            <a:srgbClr val="171717"/>
                          </a:solidFill>
                          <a:latin typeface="Arial"/>
                          <a:ea typeface="Arial"/>
                          <a:cs typeface="Arial"/>
                        </a:rPr>
                        <a:t>city, postal_code, contact_phone</a:t>
                      </a:r>
                    </a:p>
                  </a:txBody>
                  <a:tcPr marL="91440" marR="91440" marT="45720" marB="45720">
                    <a:lnR w="9525">
                      <a:solidFill>
                        <a:srgbClr val="D6D6D6"/>
                      </a:solidFill>
                      <a:prstDash val="solid"/>
                    </a:lnR>
                    <a:lnB w="9525">
                      <a:solidFill>
                        <a:srgbClr val="D6D6D6"/>
                      </a:solidFill>
                      <a:prstDash val="solid"/>
                    </a:lnB>
                    <a:solidFill>
                      <a:srgbClr val="FFFFFF"/>
                    </a:solidFill>
                  </a:tcPr>
                </a:tc>
              </a:tr>
              <a:tr h="722313">
                <a:tc>
                  <a:txBody>
                    <a:bodyPr/>
                    <a:lstStyle/>
                    <a:p>
                      <a:r>
                        <a:rPr sz="1800" b="0">
                          <a:solidFill>
                            <a:srgbClr val="171717"/>
                          </a:solidFill>
                          <a:latin typeface="Arial"/>
                          <a:ea typeface="Arial"/>
                          <a:cs typeface="Arial"/>
                        </a:rPr>
                        <a:t>MENU_ITEM</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item_id PK, restaurant_id FK, item_name, category,</a:t>
                      </a:r>
                    </a:p>
                    <a:p>
                      <a:r>
                        <a:rPr sz="1800" b="0">
                          <a:solidFill>
                            <a:srgbClr val="171717"/>
                          </a:solidFill>
                          <a:latin typeface="Arial"/>
                          <a:ea typeface="Arial"/>
                          <a:cs typeface="Arial"/>
                        </a:rPr>
                        <a:t>current_price, is_available</a:t>
                      </a:r>
                    </a:p>
                  </a:txBody>
                  <a:tcPr marL="91440" marR="91440" marT="45720" marB="45720">
                    <a:lnR w="9525">
                      <a:solidFill>
                        <a:srgbClr val="D6D6D6"/>
                      </a:solidFill>
                      <a:prstDash val="solid"/>
                    </a:lnR>
                    <a:lnB w="9525">
                      <a:solidFill>
                        <a:srgbClr val="D6D6D6"/>
                      </a:solidFill>
                      <a:prstDash val="solid"/>
                    </a:lnB>
                    <a:solidFill>
                      <a:srgbClr val="FFFFFF"/>
                    </a:solidFill>
                  </a:tcPr>
                </a:tc>
              </a:tr>
            </a:tbl>
          </a:graphicData>
        </a:graphic>
      </p:graphicFrame>
    </p:spTree>
    <p:extLst>
      <p:ext uri="{BB962C8B-B14F-4D97-AF65-F5344CB8AC3E}">
        <p14:creationId xmlns:p14="http://schemas.microsoft.com/office/powerpoint/2010/main" val="51171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9">
            <a:extLst xmlns:a="http://schemas.openxmlformats.org/drawingml/2006/main">
              <a:ext uri="{FF2B5EF4-FFF2-40B4-BE49-F238E27FC236}">
                <a16:creationId xmlns:a16="http://schemas.microsoft.com/office/drawing/2014/main" id="{362B1517-77AD-4441-9B5D-A488B507ED67}"/>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Relations: orders, payments and deliveries</a:t>
            </a:r>
          </a:p>
        </p:txBody>
      </p:sp>
      <p:sp>
        <p:nvSpPr>
          <p:cNvPr id="2" name="text-10">
            <a:extLst xmlns:a="http://schemas.openxmlformats.org/drawingml/2006/main">
              <a:ext uri="{FF2B5EF4-FFF2-40B4-BE49-F238E27FC236}">
                <a16:creationId xmlns:a16="http://schemas.microsoft.com/office/drawing/2014/main" id="{D8A68656-811E-465C-BF2F-6A71D05D7F00}"/>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04</a:t>
            </a:r>
          </a:p>
        </p:txBody>
      </p:sp>
      <p:graphicFrame>
        <p:nvGraphicFramePr>
          <p:cNvPr id="3" name="">
            <a:extLst xmlns:a="http://schemas.openxmlformats.org/drawingml/2006/main">
              <a:ext uri="{FF2B5EF4-FFF2-40B4-BE49-F238E27FC236}">
                <a16:creationId xmlns:a16="http://schemas.microsoft.com/office/drawing/2014/main" id="{D41F9B10-5C08-4950-9BA9-74C97DE90724}"/>
              </a:ext>
            </a:extLst>
          </p:cNvPr>
          <p:cNvGraphicFramePr/>
          <p:nvPr/>
        </p:nvGraphicFramePr>
        <p:xfrm>
          <a:off xmlns:a="http://schemas.openxmlformats.org/drawingml/2006/main" x="571500" y="1381125"/>
          <a:ext xmlns:a="http://schemas.openxmlformats.org/drawingml/2006/main" cx="11049000" cy="4429125"/>
        </p:xfrm>
        <a:graphic xmlns:a="http://schemas.openxmlformats.org/drawingml/2006/main">
          <a:graphicData uri="http://schemas.openxmlformats.org/drawingml/2006/table">
            <a:tbl>
              <a:tblPr/>
              <a:tblGrid>
                <a:gridCol w="2571750"/>
                <a:gridCol w="8477250"/>
              </a:tblGrid>
              <a:tr h="885825">
                <a:tc>
                  <a:txBody>
                    <a:bodyPr/>
                    <a:lstStyle/>
                    <a:p>
                      <a:r>
                        <a:rPr sz="1800" b="1">
                          <a:solidFill>
                            <a:srgbClr val="171717"/>
                          </a:solidFill>
                          <a:latin typeface="Arial"/>
                          <a:ea typeface="Arial"/>
                          <a:cs typeface="Arial"/>
                        </a:rPr>
                        <a:t>Relation</a:t>
                      </a:r>
                    </a:p>
                  </a:txBody>
                  <a:tcPr marL="91440" marR="91440" marT="45720" marB="45720">
                    <a:lnL w="9525">
                      <a:solidFill>
                        <a:srgbClr val="D6D6D6"/>
                      </a:solidFill>
                      <a:prstDash val="solid"/>
                    </a:lnL>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c>
                  <a:txBody>
                    <a:bodyPr/>
                    <a:lstStyle/>
                    <a:p>
                      <a:r>
                        <a:rPr sz="1800" b="1">
                          <a:solidFill>
                            <a:srgbClr val="171717"/>
                          </a:solidFill>
                          <a:latin typeface="Arial"/>
                          <a:ea typeface="Arial"/>
                          <a:cs typeface="Arial"/>
                        </a:rPr>
                        <a:t>Attributes and keys</a:t>
                      </a:r>
                    </a:p>
                  </a:txBody>
                  <a:tcPr marL="91440" marR="91440" marT="45720" marB="45720">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r>
              <a:tr h="885825">
                <a:tc>
                  <a:txBody>
                    <a:bodyPr/>
                    <a:lstStyle/>
                    <a:p>
                      <a:r>
                        <a:rPr sz="1800" b="0">
                          <a:solidFill>
                            <a:srgbClr val="171717"/>
                          </a:solidFill>
                          <a:latin typeface="Arial"/>
                          <a:ea typeface="Arial"/>
                          <a:cs typeface="Arial"/>
                        </a:rPr>
                        <a:t>FOOD_ORDER</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order_id PK, customer_id FK, restaurant_id FK, ordered_at,</a:t>
                      </a:r>
                    </a:p>
                    <a:p>
                      <a:r>
                        <a:rPr sz="1800" b="0">
                          <a:solidFill>
                            <a:srgbClr val="171717"/>
                          </a:solidFill>
                          <a:latin typeface="Arial"/>
                          <a:ea typeface="Arial"/>
                          <a:cs typeface="Arial"/>
                        </a:rPr>
                        <a:t>order_status, dropoff_line, dropoff_city,</a:t>
                      </a:r>
                    </a:p>
                    <a:p>
                      <a:r>
                        <a:rPr sz="1800" b="0">
                          <a:solidFill>
                            <a:srgbClr val="171717"/>
                          </a:solidFill>
                          <a:latin typeface="Arial"/>
                          <a:ea typeface="Arial"/>
                          <a:cs typeface="Arial"/>
                        </a:rPr>
                        <a:t>dropoff_postal_code, delivery_fee</a:t>
                      </a:r>
                    </a:p>
                  </a:txBody>
                  <a:tcPr marL="91440" marR="91440" marT="45720" marB="45720">
                    <a:lnR w="9525">
                      <a:solidFill>
                        <a:srgbClr val="D6D6D6"/>
                      </a:solidFill>
                      <a:prstDash val="solid"/>
                    </a:lnR>
                    <a:lnB w="9525">
                      <a:solidFill>
                        <a:srgbClr val="D6D6D6"/>
                      </a:solidFill>
                      <a:prstDash val="solid"/>
                    </a:lnB>
                    <a:solidFill>
                      <a:srgbClr val="FFFFFF"/>
                    </a:solidFill>
                  </a:tcPr>
                </a:tc>
              </a:tr>
              <a:tr h="885825">
                <a:tc>
                  <a:txBody>
                    <a:bodyPr/>
                    <a:lstStyle/>
                    <a:p>
                      <a:r>
                        <a:rPr sz="1800" b="0">
                          <a:solidFill>
                            <a:srgbClr val="171717"/>
                          </a:solidFill>
                          <a:latin typeface="Arial"/>
                          <a:ea typeface="Arial"/>
                          <a:cs typeface="Arial"/>
                        </a:rPr>
                        <a:t>ORDER_ITEM</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order_id PK/FK, item_id PK/FK, quantity, agreed_unit_price</a:t>
                      </a:r>
                    </a:p>
                  </a:txBody>
                  <a:tcPr marL="91440" marR="91440" marT="45720" marB="45720">
                    <a:lnR w="9525">
                      <a:solidFill>
                        <a:srgbClr val="D6D6D6"/>
                      </a:solidFill>
                      <a:prstDash val="solid"/>
                    </a:lnR>
                    <a:lnB w="9525">
                      <a:solidFill>
                        <a:srgbClr val="D6D6D6"/>
                      </a:solidFill>
                      <a:prstDash val="solid"/>
                    </a:lnB>
                    <a:solidFill>
                      <a:srgbClr val="FFFFFF"/>
                    </a:solidFill>
                  </a:tcPr>
                </a:tc>
              </a:tr>
              <a:tr h="885825">
                <a:tc>
                  <a:txBody>
                    <a:bodyPr/>
                    <a:lstStyle/>
                    <a:p>
                      <a:r>
                        <a:rPr sz="1800" b="0">
                          <a:solidFill>
                            <a:srgbClr val="171717"/>
                          </a:solidFill>
                          <a:latin typeface="Arial"/>
                          <a:ea typeface="Arial"/>
                          <a:cs typeface="Arial"/>
                        </a:rPr>
                        <a:t>PAYMENT</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payment_id PK, order_id UQ/FK, payment_method,</a:t>
                      </a:r>
                    </a:p>
                    <a:p>
                      <a:r>
                        <a:rPr sz="1800" b="0">
                          <a:solidFill>
                            <a:srgbClr val="171717"/>
                          </a:solidFill>
                          <a:latin typeface="Arial"/>
                          <a:ea typeface="Arial"/>
                          <a:cs typeface="Arial"/>
                        </a:rPr>
                        <a:t>payment_amount, payment_status, paid_at</a:t>
                      </a:r>
                    </a:p>
                  </a:txBody>
                  <a:tcPr marL="91440" marR="91440" marT="45720" marB="45720">
                    <a:lnR w="9525">
                      <a:solidFill>
                        <a:srgbClr val="D6D6D6"/>
                      </a:solidFill>
                      <a:prstDash val="solid"/>
                    </a:lnR>
                    <a:lnB w="9525">
                      <a:solidFill>
                        <a:srgbClr val="D6D6D6"/>
                      </a:solidFill>
                      <a:prstDash val="solid"/>
                    </a:lnB>
                    <a:solidFill>
                      <a:srgbClr val="FFFFFF"/>
                    </a:solidFill>
                  </a:tcPr>
                </a:tc>
              </a:tr>
              <a:tr h="885825">
                <a:tc>
                  <a:txBody>
                    <a:bodyPr/>
                    <a:lstStyle/>
                    <a:p>
                      <a:r>
                        <a:rPr sz="1800" b="0">
                          <a:solidFill>
                            <a:srgbClr val="171717"/>
                          </a:solidFill>
                          <a:latin typeface="Arial"/>
                          <a:ea typeface="Arial"/>
                          <a:cs typeface="Arial"/>
                        </a:rPr>
                        <a:t>DELIVERY</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order_id PK/FK, partner_id FK, assigned_at,</a:t>
                      </a:r>
                    </a:p>
                    <a:p>
                      <a:r>
                        <a:rPr sz="1800" b="0">
                          <a:solidFill>
                            <a:srgbClr val="171717"/>
                          </a:solidFill>
                          <a:latin typeface="Arial"/>
                          <a:ea typeface="Arial"/>
                          <a:cs typeface="Arial"/>
                        </a:rPr>
                        <a:t>picked_up_at, delivered_at</a:t>
                      </a:r>
                    </a:p>
                  </a:txBody>
                  <a:tcPr marL="91440" marR="91440" marT="45720" marB="45720">
                    <a:lnR w="9525">
                      <a:solidFill>
                        <a:srgbClr val="D6D6D6"/>
                      </a:solidFill>
                      <a:prstDash val="solid"/>
                    </a:lnR>
                    <a:lnB w="9525">
                      <a:solidFill>
                        <a:srgbClr val="D6D6D6"/>
                      </a:solidFill>
                      <a:prstDash val="solid"/>
                    </a:lnB>
                    <a:solidFill>
                      <a:srgbClr val="FFFFFF"/>
                    </a:solidFill>
                  </a:tcPr>
                </a:tc>
              </a:tr>
            </a:tbl>
          </a:graphicData>
        </a:graphic>
      </p:graphicFrame>
    </p:spTree>
    <p:extLst>
      <p:ext uri="{BB962C8B-B14F-4D97-AF65-F5344CB8AC3E}">
        <p14:creationId xmlns:p14="http://schemas.microsoft.com/office/powerpoint/2010/main" val="14306861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1">
            <a:extLst xmlns:a="http://schemas.openxmlformats.org/drawingml/2006/main">
              <a:ext uri="{FF2B5EF4-FFF2-40B4-BE49-F238E27FC236}">
                <a16:creationId xmlns:a16="http://schemas.microsoft.com/office/drawing/2014/main" id="{A30E7049-6249-473B-A149-A4BE4F066E2C}"/>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Oracle DDL and constraints</a:t>
            </a:r>
          </a:p>
        </p:txBody>
      </p:sp>
      <p:sp>
        <p:nvSpPr>
          <p:cNvPr id="2" name="text-12">
            <a:extLst xmlns:a="http://schemas.openxmlformats.org/drawingml/2006/main">
              <a:ext uri="{FF2B5EF4-FFF2-40B4-BE49-F238E27FC236}">
                <a16:creationId xmlns:a16="http://schemas.microsoft.com/office/drawing/2014/main" id="{125C3BE7-FD57-4815-AB1D-2063E3743FCA}"/>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05</a:t>
            </a:r>
          </a:p>
        </p:txBody>
      </p:sp>
      <p:sp>
        <p:nvSpPr>
          <p:cNvPr id="3" name="text-13">
            <a:extLst xmlns:a="http://schemas.openxmlformats.org/drawingml/2006/main">
              <a:ext uri="{FF2B5EF4-FFF2-40B4-BE49-F238E27FC236}">
                <a16:creationId xmlns:a16="http://schemas.microsoft.com/office/drawing/2014/main" id="{B1874C91-944C-411B-BFBE-1E09D75DA34C}"/>
              </a:ext>
            </a:extLst>
          </p:cNvPr>
          <p:cNvSpPr>
            <a:spLocks xmlns:a="http://schemas.openxmlformats.org/drawingml/2006/main" noGrp="1"/>
          </p:cNvSpPr>
          <p:nvPr/>
        </p:nvSpPr>
        <p:spPr>
          <a:xfrm xmlns:a="http://schemas.openxmlformats.org/drawingml/2006/main">
            <a:off x="609600" y="138112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1717"/>
                </a:solidFill>
                <a:latin typeface="Arial"/>
                <a:ea typeface="Arial"/>
                <a:cs typeface="Arial"/>
              </a:defRPr>
            </a:defPPr>
          </a:lstStyle>
          <a:p xmlns:a="http://schemas.openxmlformats.org/drawingml/2006/main">
            <a:pPr>
              <a:defRPr sz="2100" b="1">
                <a:solidFill>
                  <a:srgbClr val="171717"/>
                </a:solidFill>
                <a:latin typeface="Arial"/>
                <a:ea typeface="Arial"/>
                <a:cs typeface="Arial"/>
              </a:defRPr>
            </a:pPr>
            <a:r>
              <a:rPr sz="2100" b="1">
                <a:solidFill>
                  <a:srgbClr val="171717"/>
                </a:solidFill>
                <a:latin typeface="Arial"/>
                <a:ea typeface="Arial"/>
                <a:cs typeface="Arial"/>
              </a:rPr>
              <a:t>ORDER_ITEM constraint example</a:t>
            </a:r>
          </a:p>
        </p:txBody>
      </p:sp>
      <p:sp>
        <p:nvSpPr>
          <p:cNvPr id="4" name="text-14">
            <a:extLst xmlns:a="http://schemas.openxmlformats.org/drawingml/2006/main">
              <a:ext uri="{FF2B5EF4-FFF2-40B4-BE49-F238E27FC236}">
                <a16:creationId xmlns:a16="http://schemas.microsoft.com/office/drawing/2014/main" id="{AA2EEDE6-9745-432F-835B-8D086D56754D}"/>
              </a:ext>
            </a:extLst>
          </p:cNvPr>
          <p:cNvSpPr>
            <a:spLocks xmlns:a="http://schemas.openxmlformats.org/drawingml/2006/main" noGrp="1"/>
          </p:cNvSpPr>
          <p:nvPr/>
        </p:nvSpPr>
        <p:spPr>
          <a:xfrm xmlns:a="http://schemas.openxmlformats.org/drawingml/2006/main">
            <a:off x="609600" y="1962150"/>
            <a:ext cx="108108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171717"/>
                </a:solidFill>
                <a:latin typeface="Arial"/>
                <a:ea typeface="Arial"/>
                <a:cs typeface="Arial"/>
              </a:defRPr>
            </a:defPPr>
          </a:lstStyle>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CONSTRAINT pk_order_item PRIMARY KEY (order_id, item_id),</a:t>
            </a:r>
          </a:p>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CONSTRAINT fk_line_order FOREIGN KEY (order_id)</a:t>
            </a:r>
          </a:p>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    REFERENCES food_order (order_id),</a:t>
            </a:r>
          </a:p>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CONSTRAINT fk_line_item FOREIGN KEY (item_id)</a:t>
            </a:r>
          </a:p>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    REFERENCES menu_item (item_id),</a:t>
            </a:r>
          </a:p>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CONSTRAINT ck_line_quantity CHECK (</a:t>
            </a:r>
          </a:p>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    quantity &gt;= 1 AND quantity = TRUNC(quantity)</a:t>
            </a:r>
          </a:p>
          <a:p xmlns:a="http://schemas.openxmlformats.org/drawingml/2006/main">
            <a:pPr>
              <a:defRPr sz="1950" b="0">
                <a:solidFill>
                  <a:srgbClr val="171717"/>
                </a:solidFill>
                <a:latin typeface="Arial"/>
                <a:ea typeface="Arial"/>
                <a:cs typeface="Arial"/>
              </a:defRPr>
            </a:pPr>
            <a:r>
              <a:rPr sz="1950" b="0">
                <a:solidFill>
                  <a:srgbClr val="171717"/>
                </a:solidFill>
                <a:latin typeface="Arial"/>
                <a:ea typeface="Arial"/>
                <a:cs typeface="Arial"/>
              </a:rPr>
              <a:t>)</a:t>
            </a:r>
          </a:p>
        </p:txBody>
      </p:sp>
      <p:sp>
        <p:nvSpPr>
          <p:cNvPr id="5" name="text-15">
            <a:extLst xmlns:a="http://schemas.openxmlformats.org/drawingml/2006/main">
              <a:ext uri="{FF2B5EF4-FFF2-40B4-BE49-F238E27FC236}">
                <a16:creationId xmlns:a16="http://schemas.microsoft.com/office/drawing/2014/main" id="{0BF00534-4682-4716-88A2-F9B0FF1FBDF7}"/>
              </a:ext>
            </a:extLst>
          </p:cNvPr>
          <p:cNvSpPr>
            <a:spLocks xmlns:a="http://schemas.openxmlformats.org/drawingml/2006/main" noGrp="1"/>
          </p:cNvSpPr>
          <p:nvPr/>
        </p:nvSpPr>
        <p:spPr>
          <a:xfrm xmlns:a="http://schemas.openxmlformats.org/drawingml/2006/main">
            <a:off x="609600" y="5410200"/>
            <a:ext cx="108108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950" b="0">
                <a:solidFill>
                  <a:srgbClr val="555555"/>
                </a:solidFill>
                <a:latin typeface="Arial"/>
                <a:ea typeface="Arial"/>
                <a:cs typeface="Arial"/>
              </a:defRPr>
            </a:defPPr>
          </a:lstStyle>
          <a:p xmlns:a="http://schemas.openxmlformats.org/drawingml/2006/main">
            <a:pPr>
              <a:defRPr sz="1950" b="0">
                <a:solidFill>
                  <a:srgbClr val="555555"/>
                </a:solidFill>
                <a:latin typeface="Arial"/>
                <a:ea typeface="Arial"/>
                <a:cs typeface="Arial"/>
              </a:defRPr>
            </a:pPr>
            <a:r>
              <a:rPr sz="1950" b="0">
                <a:solidFill>
                  <a:srgbClr val="555555"/>
                </a:solidFill>
                <a:latin typeface="Arial"/>
                <a:ea typeface="Arial"/>
                <a:cs typeface="Arial"/>
              </a:rPr>
              <a:t>Keys protect identity and references. CHECK constraints protect allowed values.</a:t>
            </a:r>
          </a:p>
        </p:txBody>
      </p:sp>
    </p:spTree>
    <p:extLst>
      <p:ext uri="{BB962C8B-B14F-4D97-AF65-F5344CB8AC3E}">
        <p14:creationId xmlns:p14="http://schemas.microsoft.com/office/powerpoint/2010/main" val="186214693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16">
            <a:extLst xmlns:a="http://schemas.openxmlformats.org/drawingml/2006/main">
              <a:ext uri="{FF2B5EF4-FFF2-40B4-BE49-F238E27FC236}">
                <a16:creationId xmlns:a16="http://schemas.microsoft.com/office/drawing/2014/main" id="{80E921C8-2028-49A3-ABA6-8B351FC8453B}"/>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Sample data in every relation</a:t>
            </a:r>
          </a:p>
        </p:txBody>
      </p:sp>
      <p:sp>
        <p:nvSpPr>
          <p:cNvPr id="2" name="text-17">
            <a:extLst xmlns:a="http://schemas.openxmlformats.org/drawingml/2006/main">
              <a:ext uri="{FF2B5EF4-FFF2-40B4-BE49-F238E27FC236}">
                <a16:creationId xmlns:a16="http://schemas.microsoft.com/office/drawing/2014/main" id="{AE74D966-3EB3-44E1-B691-A49D266FFBC3}"/>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06</a:t>
            </a:r>
          </a:p>
        </p:txBody>
      </p:sp>
      <p:graphicFrame>
        <p:nvGraphicFramePr>
          <p:cNvPr id="3" name="">
            <a:extLst xmlns:a="http://schemas.openxmlformats.org/drawingml/2006/main">
              <a:ext uri="{FF2B5EF4-FFF2-40B4-BE49-F238E27FC236}">
                <a16:creationId xmlns:a16="http://schemas.microsoft.com/office/drawing/2014/main" id="{0D92874A-9B55-49BE-9640-D5814549834B}"/>
              </a:ext>
            </a:extLst>
          </p:cNvPr>
          <p:cNvGraphicFramePr/>
          <p:nvPr/>
        </p:nvGraphicFramePr>
        <p:xfrm>
          <a:off xmlns:a="http://schemas.openxmlformats.org/drawingml/2006/main" x="571500" y="1333500"/>
          <a:ext xmlns:a="http://schemas.openxmlformats.org/drawingml/2006/main" cx="11049000" cy="4667250"/>
        </p:xfrm>
        <a:graphic xmlns:a="http://schemas.openxmlformats.org/drawingml/2006/main">
          <a:graphicData uri="http://schemas.openxmlformats.org/drawingml/2006/table">
            <a:tbl>
              <a:tblPr/>
              <a:tblGrid>
                <a:gridCol w="5429250"/>
                <a:gridCol w="5619750"/>
              </a:tblGrid>
              <a:tr h="466725">
                <a:tc>
                  <a:txBody>
                    <a:bodyPr/>
                    <a:lstStyle/>
                    <a:p>
                      <a:r>
                        <a:rPr sz="1800" b="1">
                          <a:solidFill>
                            <a:srgbClr val="171717"/>
                          </a:solidFill>
                          <a:latin typeface="Arial"/>
                          <a:ea typeface="Arial"/>
                          <a:cs typeface="Arial"/>
                        </a:rPr>
                        <a:t>Relation</a:t>
                      </a:r>
                    </a:p>
                  </a:txBody>
                  <a:tcPr marL="91440" marR="91440" marT="45720" marB="45720">
                    <a:lnL w="9525">
                      <a:solidFill>
                        <a:srgbClr val="D6D6D6"/>
                      </a:solidFill>
                      <a:prstDash val="solid"/>
                    </a:lnL>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c>
                  <a:txBody>
                    <a:bodyPr/>
                    <a:lstStyle/>
                    <a:p>
                      <a:r>
                        <a:rPr sz="1800" b="1">
                          <a:solidFill>
                            <a:srgbClr val="171717"/>
                          </a:solidFill>
                          <a:latin typeface="Arial"/>
                          <a:ea typeface="Arial"/>
                          <a:cs typeface="Arial"/>
                        </a:rPr>
                        <a:t>Rows after browser demonstration</a:t>
                      </a:r>
                    </a:p>
                  </a:txBody>
                  <a:tcPr marL="91440" marR="91440" marT="45720" marB="45720">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r>
              <a:tr h="466725">
                <a:tc>
                  <a:txBody>
                    <a:bodyPr/>
                    <a:lstStyle/>
                    <a:p>
                      <a:r>
                        <a:rPr sz="1800" b="0">
                          <a:solidFill>
                            <a:srgbClr val="171717"/>
                          </a:solidFill>
                          <a:latin typeface="Arial"/>
                          <a:ea typeface="Arial"/>
                          <a:cs typeface="Arial"/>
                        </a:rPr>
                        <a:t>APP_USER</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4</a:t>
                      </a:r>
                    </a:p>
                  </a:txBody>
                  <a:tcPr marL="91440" marR="91440" marT="45720" marB="45720">
                    <a:lnR w="9525">
                      <a:solidFill>
                        <a:srgbClr val="D6D6D6"/>
                      </a:solidFill>
                      <a:prstDash val="solid"/>
                    </a:lnR>
                    <a:lnB w="9525">
                      <a:solidFill>
                        <a:srgbClr val="D6D6D6"/>
                      </a:solidFill>
                      <a:prstDash val="solid"/>
                    </a:lnB>
                    <a:solidFill>
                      <a:srgbClr val="FFFFFF"/>
                    </a:solidFill>
                  </a:tcPr>
                </a:tc>
              </a:tr>
              <a:tr h="466725">
                <a:tc>
                  <a:txBody>
                    <a:bodyPr/>
                    <a:lstStyle/>
                    <a:p>
                      <a:r>
                        <a:rPr sz="1800" b="0">
                          <a:solidFill>
                            <a:srgbClr val="171717"/>
                          </a:solidFill>
                          <a:latin typeface="Arial"/>
                          <a:ea typeface="Arial"/>
                          <a:cs typeface="Arial"/>
                        </a:rPr>
                        <a:t>CUSTOMER</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3</a:t>
                      </a:r>
                    </a:p>
                  </a:txBody>
                  <a:tcPr marL="91440" marR="91440" marT="45720" marB="45720">
                    <a:lnR w="9525">
                      <a:solidFill>
                        <a:srgbClr val="D6D6D6"/>
                      </a:solidFill>
                      <a:prstDash val="solid"/>
                    </a:lnR>
                    <a:lnB w="9525">
                      <a:solidFill>
                        <a:srgbClr val="D6D6D6"/>
                      </a:solidFill>
                      <a:prstDash val="solid"/>
                    </a:lnB>
                    <a:solidFill>
                      <a:srgbClr val="FFFFFF"/>
                    </a:solidFill>
                  </a:tcPr>
                </a:tc>
              </a:tr>
              <a:tr h="466725">
                <a:tc>
                  <a:txBody>
                    <a:bodyPr/>
                    <a:lstStyle/>
                    <a:p>
                      <a:r>
                        <a:rPr sz="1800" b="0">
                          <a:solidFill>
                            <a:srgbClr val="171717"/>
                          </a:solidFill>
                          <a:latin typeface="Arial"/>
                          <a:ea typeface="Arial"/>
                          <a:cs typeface="Arial"/>
                        </a:rPr>
                        <a:t>DELIVERY_PARTNER</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2</a:t>
                      </a:r>
                    </a:p>
                  </a:txBody>
                  <a:tcPr marL="91440" marR="91440" marT="45720" marB="45720">
                    <a:lnR w="9525">
                      <a:solidFill>
                        <a:srgbClr val="D6D6D6"/>
                      </a:solidFill>
                      <a:prstDash val="solid"/>
                    </a:lnR>
                    <a:lnB w="9525">
                      <a:solidFill>
                        <a:srgbClr val="D6D6D6"/>
                      </a:solidFill>
                      <a:prstDash val="solid"/>
                    </a:lnB>
                    <a:solidFill>
                      <a:srgbClr val="FFFFFF"/>
                    </a:solidFill>
                  </a:tcPr>
                </a:tc>
              </a:tr>
              <a:tr h="466725">
                <a:tc>
                  <a:txBody>
                    <a:bodyPr/>
                    <a:lstStyle/>
                    <a:p>
                      <a:r>
                        <a:rPr sz="1800" b="0">
                          <a:solidFill>
                            <a:srgbClr val="171717"/>
                          </a:solidFill>
                          <a:latin typeface="Arial"/>
                          <a:ea typeface="Arial"/>
                          <a:cs typeface="Arial"/>
                        </a:rPr>
                        <a:t>RESTAURANT</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2</a:t>
                      </a:r>
                    </a:p>
                  </a:txBody>
                  <a:tcPr marL="91440" marR="91440" marT="45720" marB="45720">
                    <a:lnR w="9525">
                      <a:solidFill>
                        <a:srgbClr val="D6D6D6"/>
                      </a:solidFill>
                      <a:prstDash val="solid"/>
                    </a:lnR>
                    <a:lnB w="9525">
                      <a:solidFill>
                        <a:srgbClr val="D6D6D6"/>
                      </a:solidFill>
                      <a:prstDash val="solid"/>
                    </a:lnB>
                    <a:solidFill>
                      <a:srgbClr val="FFFFFF"/>
                    </a:solidFill>
                  </a:tcPr>
                </a:tc>
              </a:tr>
              <a:tr h="466725">
                <a:tc>
                  <a:txBody>
                    <a:bodyPr/>
                    <a:lstStyle/>
                    <a:p>
                      <a:r>
                        <a:rPr sz="1800" b="0">
                          <a:solidFill>
                            <a:srgbClr val="171717"/>
                          </a:solidFill>
                          <a:latin typeface="Arial"/>
                          <a:ea typeface="Arial"/>
                          <a:cs typeface="Arial"/>
                        </a:rPr>
                        <a:t>MENU_ITEM</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6</a:t>
                      </a:r>
                    </a:p>
                  </a:txBody>
                  <a:tcPr marL="91440" marR="91440" marT="45720" marB="45720">
                    <a:lnR w="9525">
                      <a:solidFill>
                        <a:srgbClr val="D6D6D6"/>
                      </a:solidFill>
                      <a:prstDash val="solid"/>
                    </a:lnR>
                    <a:lnB w="9525">
                      <a:solidFill>
                        <a:srgbClr val="D6D6D6"/>
                      </a:solidFill>
                      <a:prstDash val="solid"/>
                    </a:lnB>
                    <a:solidFill>
                      <a:srgbClr val="FFFFFF"/>
                    </a:solidFill>
                  </a:tcPr>
                </a:tc>
              </a:tr>
              <a:tr h="466725">
                <a:tc>
                  <a:txBody>
                    <a:bodyPr/>
                    <a:lstStyle/>
                    <a:p>
                      <a:r>
                        <a:rPr sz="1800" b="0">
                          <a:solidFill>
                            <a:srgbClr val="171717"/>
                          </a:solidFill>
                          <a:latin typeface="Arial"/>
                          <a:ea typeface="Arial"/>
                          <a:cs typeface="Arial"/>
                        </a:rPr>
                        <a:t>FOOD_ORDER</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5</a:t>
                      </a:r>
                    </a:p>
                  </a:txBody>
                  <a:tcPr marL="91440" marR="91440" marT="45720" marB="45720">
                    <a:lnR w="9525">
                      <a:solidFill>
                        <a:srgbClr val="D6D6D6"/>
                      </a:solidFill>
                      <a:prstDash val="solid"/>
                    </a:lnR>
                    <a:lnB w="9525">
                      <a:solidFill>
                        <a:srgbClr val="D6D6D6"/>
                      </a:solidFill>
                      <a:prstDash val="solid"/>
                    </a:lnB>
                    <a:solidFill>
                      <a:srgbClr val="FFFFFF"/>
                    </a:solidFill>
                  </a:tcPr>
                </a:tc>
              </a:tr>
              <a:tr h="466725">
                <a:tc>
                  <a:txBody>
                    <a:bodyPr/>
                    <a:lstStyle/>
                    <a:p>
                      <a:r>
                        <a:rPr sz="1800" b="0">
                          <a:solidFill>
                            <a:srgbClr val="171717"/>
                          </a:solidFill>
                          <a:latin typeface="Arial"/>
                          <a:ea typeface="Arial"/>
                          <a:cs typeface="Arial"/>
                        </a:rPr>
                        <a:t>ORDER_ITEM</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9</a:t>
                      </a:r>
                    </a:p>
                  </a:txBody>
                  <a:tcPr marL="91440" marR="91440" marT="45720" marB="45720">
                    <a:lnR w="9525">
                      <a:solidFill>
                        <a:srgbClr val="D6D6D6"/>
                      </a:solidFill>
                      <a:prstDash val="solid"/>
                    </a:lnR>
                    <a:lnB w="9525">
                      <a:solidFill>
                        <a:srgbClr val="D6D6D6"/>
                      </a:solidFill>
                      <a:prstDash val="solid"/>
                    </a:lnB>
                    <a:solidFill>
                      <a:srgbClr val="FFFFFF"/>
                    </a:solidFill>
                  </a:tcPr>
                </a:tc>
              </a:tr>
              <a:tr h="466725">
                <a:tc>
                  <a:txBody>
                    <a:bodyPr/>
                    <a:lstStyle/>
                    <a:p>
                      <a:r>
                        <a:rPr sz="1800" b="0">
                          <a:solidFill>
                            <a:srgbClr val="171717"/>
                          </a:solidFill>
                          <a:latin typeface="Arial"/>
                          <a:ea typeface="Arial"/>
                          <a:cs typeface="Arial"/>
                        </a:rPr>
                        <a:t>PAYMENT</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5</a:t>
                      </a:r>
                    </a:p>
                  </a:txBody>
                  <a:tcPr marL="91440" marR="91440" marT="45720" marB="45720">
                    <a:lnR w="9525">
                      <a:solidFill>
                        <a:srgbClr val="D6D6D6"/>
                      </a:solidFill>
                      <a:prstDash val="solid"/>
                    </a:lnR>
                    <a:lnB w="9525">
                      <a:solidFill>
                        <a:srgbClr val="D6D6D6"/>
                      </a:solidFill>
                      <a:prstDash val="solid"/>
                    </a:lnB>
                    <a:solidFill>
                      <a:srgbClr val="FFFFFF"/>
                    </a:solidFill>
                  </a:tcPr>
                </a:tc>
              </a:tr>
              <a:tr h="466725">
                <a:tc>
                  <a:txBody>
                    <a:bodyPr/>
                    <a:lstStyle/>
                    <a:p>
                      <a:r>
                        <a:rPr sz="1800" b="0">
                          <a:solidFill>
                            <a:srgbClr val="171717"/>
                          </a:solidFill>
                          <a:latin typeface="Arial"/>
                          <a:ea typeface="Arial"/>
                          <a:cs typeface="Arial"/>
                        </a:rPr>
                        <a:t>DELIVERY</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2</a:t>
                      </a:r>
                    </a:p>
                  </a:txBody>
                  <a:tcPr marL="91440" marR="91440" marT="45720" marB="45720">
                    <a:lnR w="9525">
                      <a:solidFill>
                        <a:srgbClr val="D6D6D6"/>
                      </a:solidFill>
                      <a:prstDash val="solid"/>
                    </a:lnR>
                    <a:lnB w="9525">
                      <a:solidFill>
                        <a:srgbClr val="D6D6D6"/>
                      </a:solidFill>
                      <a:prstDash val="solid"/>
                    </a:lnB>
                    <a:solidFill>
                      <a:srgbClr val="FFFFFF"/>
                    </a:solidFill>
                  </a:tcPr>
                </a:tc>
              </a:tr>
            </a:tbl>
          </a:graphicData>
        </a:graphic>
      </p:graphicFrame>
    </p:spTree>
    <p:extLst>
      <p:ext uri="{BB962C8B-B14F-4D97-AF65-F5344CB8AC3E}">
        <p14:creationId xmlns:p14="http://schemas.microsoft.com/office/powerpoint/2010/main" val="177473910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18">
            <a:extLst xmlns:a="http://schemas.openxmlformats.org/drawingml/2006/main">
              <a:ext uri="{FF2B5EF4-FFF2-40B4-BE49-F238E27FC236}">
                <a16:creationId xmlns:a16="http://schemas.microsoft.com/office/drawing/2014/main" id="{0EAE7B47-A623-44DC-9F84-A8CDC31FAB0E}"/>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Order totals and historical prices</a:t>
            </a:r>
          </a:p>
        </p:txBody>
      </p:sp>
      <p:sp>
        <p:nvSpPr>
          <p:cNvPr id="2" name="text-19">
            <a:extLst xmlns:a="http://schemas.openxmlformats.org/drawingml/2006/main">
              <a:ext uri="{FF2B5EF4-FFF2-40B4-BE49-F238E27FC236}">
                <a16:creationId xmlns:a16="http://schemas.microsoft.com/office/drawing/2014/main" id="{8F71C901-34D4-4E55-9150-B6150DC74E14}"/>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07</a:t>
            </a:r>
          </a:p>
        </p:txBody>
      </p:sp>
      <p:graphicFrame>
        <p:nvGraphicFramePr>
          <p:cNvPr id="3" name="">
            <a:extLst xmlns:a="http://schemas.openxmlformats.org/drawingml/2006/main">
              <a:ext uri="{FF2B5EF4-FFF2-40B4-BE49-F238E27FC236}">
                <a16:creationId xmlns:a16="http://schemas.microsoft.com/office/drawing/2014/main" id="{F8C2E369-981F-46F0-AF16-A5879331B4A1}"/>
              </a:ext>
            </a:extLst>
          </p:cNvPr>
          <p:cNvGraphicFramePr/>
          <p:nvPr/>
        </p:nvGraphicFramePr>
        <p:xfrm>
          <a:off xmlns:a="http://schemas.openxmlformats.org/drawingml/2006/main" x="571500" y="1428750"/>
          <a:ext xmlns:a="http://schemas.openxmlformats.org/drawingml/2006/main" cx="11049000" cy="3286125"/>
        </p:xfrm>
        <a:graphic xmlns:a="http://schemas.openxmlformats.org/drawingml/2006/main">
          <a:graphicData uri="http://schemas.openxmlformats.org/drawingml/2006/table">
            <a:tbl>
              <a:tblPr/>
              <a:tblGrid>
                <a:gridCol w="2095500"/>
                <a:gridCol w="2952750"/>
                <a:gridCol w="3143250"/>
                <a:gridCol w="2857500"/>
              </a:tblGrid>
              <a:tr h="547688">
                <a:tc>
                  <a:txBody>
                    <a:bodyPr/>
                    <a:lstStyle/>
                    <a:p>
                      <a:r>
                        <a:rPr sz="1875" b="1">
                          <a:solidFill>
                            <a:srgbClr val="171717"/>
                          </a:solidFill>
                          <a:latin typeface="Arial"/>
                          <a:ea typeface="Arial"/>
                          <a:cs typeface="Arial"/>
                        </a:rPr>
                        <a:t>Order</a:t>
                      </a:r>
                    </a:p>
                  </a:txBody>
                  <a:tcPr marL="91440" marR="91440" marT="45720" marB="45720">
                    <a:lnL w="9525">
                      <a:solidFill>
                        <a:srgbClr val="D6D6D6"/>
                      </a:solidFill>
                      <a:prstDash val="solid"/>
                    </a:lnL>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c>
                  <a:txBody>
                    <a:bodyPr/>
                    <a:lstStyle/>
                    <a:p>
                      <a:r>
                        <a:rPr sz="1875" b="1">
                          <a:solidFill>
                            <a:srgbClr val="171717"/>
                          </a:solidFill>
                          <a:latin typeface="Arial"/>
                          <a:ea typeface="Arial"/>
                          <a:cs typeface="Arial"/>
                        </a:rPr>
                        <a:t>Subtotal (INR)</a:t>
                      </a:r>
                    </a:p>
                  </a:txBody>
                  <a:tcPr marL="91440" marR="91440" marT="45720" marB="45720">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c>
                  <a:txBody>
                    <a:bodyPr/>
                    <a:lstStyle/>
                    <a:p>
                      <a:r>
                        <a:rPr sz="1875" b="1">
                          <a:solidFill>
                            <a:srgbClr val="171717"/>
                          </a:solidFill>
                          <a:latin typeface="Arial"/>
                          <a:ea typeface="Arial"/>
                          <a:cs typeface="Arial"/>
                        </a:rPr>
                        <a:t>Delivery fee (INR)</a:t>
                      </a:r>
                    </a:p>
                  </a:txBody>
                  <a:tcPr marL="91440" marR="91440" marT="45720" marB="45720">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c>
                  <a:txBody>
                    <a:bodyPr/>
                    <a:lstStyle/>
                    <a:p>
                      <a:r>
                        <a:rPr sz="1875" b="1">
                          <a:solidFill>
                            <a:srgbClr val="171717"/>
                          </a:solidFill>
                          <a:latin typeface="Arial"/>
                          <a:ea typeface="Arial"/>
                          <a:cs typeface="Arial"/>
                        </a:rPr>
                        <a:t>Total (INR)</a:t>
                      </a:r>
                    </a:p>
                  </a:txBody>
                  <a:tcPr marL="91440" marR="91440" marT="45720" marB="45720">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r>
              <a:tr h="547688">
                <a:tc>
                  <a:txBody>
                    <a:bodyPr/>
                    <a:lstStyle/>
                    <a:p>
                      <a:r>
                        <a:rPr sz="1875" b="0">
                          <a:solidFill>
                            <a:srgbClr val="171717"/>
                          </a:solidFill>
                          <a:latin typeface="Arial"/>
                          <a:ea typeface="Arial"/>
                          <a:cs typeface="Arial"/>
                        </a:rPr>
                        <a:t>1001</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320.00</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30.00</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350.00</a:t>
                      </a:r>
                    </a:p>
                  </a:txBody>
                  <a:tcPr marL="91440" marR="91440" marT="45720" marB="45720">
                    <a:lnR w="9525">
                      <a:solidFill>
                        <a:srgbClr val="D6D6D6"/>
                      </a:solidFill>
                      <a:prstDash val="solid"/>
                    </a:lnR>
                    <a:lnB w="9525">
                      <a:solidFill>
                        <a:srgbClr val="D6D6D6"/>
                      </a:solidFill>
                      <a:prstDash val="solid"/>
                    </a:lnB>
                    <a:solidFill>
                      <a:srgbClr val="FFFFFF"/>
                    </a:solidFill>
                  </a:tcPr>
                </a:tc>
              </a:tr>
              <a:tr h="547688">
                <a:tc>
                  <a:txBody>
                    <a:bodyPr/>
                    <a:lstStyle/>
                    <a:p>
                      <a:r>
                        <a:rPr sz="1875" b="0">
                          <a:solidFill>
                            <a:srgbClr val="171717"/>
                          </a:solidFill>
                          <a:latin typeface="Arial"/>
                          <a:ea typeface="Arial"/>
                          <a:cs typeface="Arial"/>
                        </a:rPr>
                        <a:t>1002</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160.00</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20.00</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180.00</a:t>
                      </a:r>
                    </a:p>
                  </a:txBody>
                  <a:tcPr marL="91440" marR="91440" marT="45720" marB="45720">
                    <a:lnR w="9525">
                      <a:solidFill>
                        <a:srgbClr val="D6D6D6"/>
                      </a:solidFill>
                      <a:prstDash val="solid"/>
                    </a:lnR>
                    <a:lnB w="9525">
                      <a:solidFill>
                        <a:srgbClr val="D6D6D6"/>
                      </a:solidFill>
                      <a:prstDash val="solid"/>
                    </a:lnB>
                    <a:solidFill>
                      <a:srgbClr val="FFFFFF"/>
                    </a:solidFill>
                  </a:tcPr>
                </a:tc>
              </a:tr>
              <a:tr h="547688">
                <a:tc>
                  <a:txBody>
                    <a:bodyPr/>
                    <a:lstStyle/>
                    <a:p>
                      <a:r>
                        <a:rPr sz="1875" b="0">
                          <a:solidFill>
                            <a:srgbClr val="171717"/>
                          </a:solidFill>
                          <a:latin typeface="Arial"/>
                          <a:ea typeface="Arial"/>
                          <a:cs typeface="Arial"/>
                        </a:rPr>
                        <a:t>1003</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150.00</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30.00</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180.00</a:t>
                      </a:r>
                    </a:p>
                  </a:txBody>
                  <a:tcPr marL="91440" marR="91440" marT="45720" marB="45720">
                    <a:lnR w="9525">
                      <a:solidFill>
                        <a:srgbClr val="D6D6D6"/>
                      </a:solidFill>
                      <a:prstDash val="solid"/>
                    </a:lnR>
                    <a:lnB w="9525">
                      <a:solidFill>
                        <a:srgbClr val="D6D6D6"/>
                      </a:solidFill>
                      <a:prstDash val="solid"/>
                    </a:lnB>
                    <a:solidFill>
                      <a:srgbClr val="FFFFFF"/>
                    </a:solidFill>
                  </a:tcPr>
                </a:tc>
              </a:tr>
              <a:tr h="547688">
                <a:tc>
                  <a:txBody>
                    <a:bodyPr/>
                    <a:lstStyle/>
                    <a:p>
                      <a:r>
                        <a:rPr sz="1875" b="0">
                          <a:solidFill>
                            <a:srgbClr val="171717"/>
                          </a:solidFill>
                          <a:latin typeface="Arial"/>
                          <a:ea typeface="Arial"/>
                          <a:cs typeface="Arial"/>
                        </a:rPr>
                        <a:t>1004</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140.00</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20.00</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160.00</a:t>
                      </a:r>
                    </a:p>
                  </a:txBody>
                  <a:tcPr marL="91440" marR="91440" marT="45720" marB="45720">
                    <a:lnR w="9525">
                      <a:solidFill>
                        <a:srgbClr val="D6D6D6"/>
                      </a:solidFill>
                      <a:prstDash val="solid"/>
                    </a:lnR>
                    <a:lnB w="9525">
                      <a:solidFill>
                        <a:srgbClr val="D6D6D6"/>
                      </a:solidFill>
                      <a:prstDash val="solid"/>
                    </a:lnB>
                    <a:solidFill>
                      <a:srgbClr val="FFFFFF"/>
                    </a:solidFill>
                  </a:tcPr>
                </a:tc>
              </a:tr>
              <a:tr h="547688">
                <a:tc>
                  <a:txBody>
                    <a:bodyPr/>
                    <a:lstStyle/>
                    <a:p>
                      <a:r>
                        <a:rPr sz="1875" b="0">
                          <a:solidFill>
                            <a:srgbClr val="171717"/>
                          </a:solidFill>
                          <a:latin typeface="Arial"/>
                          <a:ea typeface="Arial"/>
                          <a:cs typeface="Arial"/>
                        </a:rPr>
                        <a:t>2005</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320.00</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30.00</a:t>
                      </a:r>
                    </a:p>
                  </a:txBody>
                  <a:tcPr marL="91440" marR="91440" marT="45720" marB="45720">
                    <a:lnR w="9525">
                      <a:solidFill>
                        <a:srgbClr val="D6D6D6"/>
                      </a:solidFill>
                      <a:prstDash val="solid"/>
                    </a:lnR>
                    <a:lnB w="9525">
                      <a:solidFill>
                        <a:srgbClr val="D6D6D6"/>
                      </a:solidFill>
                      <a:prstDash val="solid"/>
                    </a:lnB>
                    <a:solidFill>
                      <a:srgbClr val="FFFFFF"/>
                    </a:solidFill>
                  </a:tcPr>
                </a:tc>
                <a:tc>
                  <a:txBody>
                    <a:bodyPr/>
                    <a:lstStyle/>
                    <a:p>
                      <a:r>
                        <a:rPr sz="1875" b="0">
                          <a:solidFill>
                            <a:srgbClr val="171717"/>
                          </a:solidFill>
                          <a:latin typeface="Arial"/>
                          <a:ea typeface="Arial"/>
                          <a:cs typeface="Arial"/>
                        </a:rPr>
                        <a:t>350.00</a:t>
                      </a:r>
                    </a:p>
                  </a:txBody>
                  <a:tcPr marL="91440" marR="91440" marT="45720" marB="45720">
                    <a:lnR w="9525">
                      <a:solidFill>
                        <a:srgbClr val="D6D6D6"/>
                      </a:solidFill>
                      <a:prstDash val="solid"/>
                    </a:lnR>
                    <a:lnB w="9525">
                      <a:solidFill>
                        <a:srgbClr val="D6D6D6"/>
                      </a:solidFill>
                      <a:prstDash val="solid"/>
                    </a:lnB>
                    <a:solidFill>
                      <a:srgbClr val="FFFFFF"/>
                    </a:solidFill>
                  </a:tcPr>
                </a:tc>
              </a:tr>
            </a:tbl>
          </a:graphicData>
        </a:graphic>
      </p:graphicFrame>
      <p:sp>
        <p:nvSpPr>
          <p:cNvPr id="4" name="text-20">
            <a:extLst xmlns:a="http://schemas.openxmlformats.org/drawingml/2006/main">
              <a:ext uri="{FF2B5EF4-FFF2-40B4-BE49-F238E27FC236}">
                <a16:creationId xmlns:a16="http://schemas.microsoft.com/office/drawing/2014/main" id="{B9336ACA-107F-473B-A9EB-7330F8D11582}"/>
              </a:ext>
            </a:extLst>
          </p:cNvPr>
          <p:cNvSpPr>
            <a:spLocks xmlns:a="http://schemas.openxmlformats.org/drawingml/2006/main" noGrp="1"/>
          </p:cNvSpPr>
          <p:nvPr/>
        </p:nvSpPr>
        <p:spPr>
          <a:xfrm xmlns:a="http://schemas.openxmlformats.org/drawingml/2006/main">
            <a:off x="609600" y="5105400"/>
            <a:ext cx="10810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00" b="1">
                <a:solidFill>
                  <a:srgbClr val="171717"/>
                </a:solidFill>
                <a:latin typeface="Arial"/>
                <a:ea typeface="Arial"/>
                <a:cs typeface="Arial"/>
              </a:defRPr>
            </a:defPPr>
          </a:lstStyle>
          <a:p xmlns:a="http://schemas.openxmlformats.org/drawingml/2006/main">
            <a:pPr>
              <a:defRPr sz="2100" b="1">
                <a:solidFill>
                  <a:srgbClr val="171717"/>
                </a:solidFill>
                <a:latin typeface="Arial"/>
                <a:ea typeface="Arial"/>
                <a:cs typeface="Arial"/>
              </a:defRPr>
            </a:pPr>
            <a:r>
              <a:rPr sz="2100" b="1">
                <a:solidFill>
                  <a:srgbClr val="171717"/>
                </a:solidFill>
                <a:latin typeface="Arial"/>
                <a:ea typeface="Arial"/>
                <a:cs typeface="Arial"/>
              </a:rPr>
              <a:t>amount_due = SUM(quantity × agreed_unit_price) + delivery_fee</a:t>
            </a:r>
          </a:p>
        </p:txBody>
      </p:sp>
      <p:sp>
        <p:nvSpPr>
          <p:cNvPr id="5" name="text-21">
            <a:extLst xmlns:a="http://schemas.openxmlformats.org/drawingml/2006/main">
              <a:ext uri="{FF2B5EF4-FFF2-40B4-BE49-F238E27FC236}">
                <a16:creationId xmlns:a16="http://schemas.microsoft.com/office/drawing/2014/main" id="{DDE63AD9-C109-4EC1-9FB0-AFC089D937FD}"/>
              </a:ext>
            </a:extLst>
          </p:cNvPr>
          <p:cNvSpPr>
            <a:spLocks xmlns:a="http://schemas.openxmlformats.org/drawingml/2006/main" noGrp="1"/>
          </p:cNvSpPr>
          <p:nvPr/>
        </p:nvSpPr>
        <p:spPr>
          <a:xfrm xmlns:a="http://schemas.openxmlformats.org/drawingml/2006/main">
            <a:off x="609600" y="576262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800" b="0">
                <a:solidFill>
                  <a:srgbClr val="555555"/>
                </a:solidFill>
                <a:latin typeface="Arial"/>
                <a:ea typeface="Arial"/>
                <a:cs typeface="Arial"/>
              </a:defRPr>
            </a:defPPr>
          </a:lstStyle>
          <a:p xmlns:a="http://schemas.openxmlformats.org/drawingml/2006/main">
            <a:pPr>
              <a:defRPr sz="1800" b="0">
                <a:solidFill>
                  <a:srgbClr val="555555"/>
                </a:solidFill>
                <a:latin typeface="Arial"/>
                <a:ea typeface="Arial"/>
                <a:cs typeface="Arial"/>
              </a:defRPr>
            </a:pPr>
            <a:r>
              <a:rPr sz="1800" b="0">
                <a:solidFill>
                  <a:srgbClr val="555555"/>
                </a:solidFill>
                <a:latin typeface="Arial"/>
                <a:ea typeface="Arial"/>
                <a:cs typeface="Arial"/>
              </a:rPr>
              <a:t>Current menu prices can change while the order keeps its agreed prices.</a:t>
            </a:r>
          </a:p>
        </p:txBody>
      </p:sp>
    </p:spTree>
    <p:extLst>
      <p:ext uri="{BB962C8B-B14F-4D97-AF65-F5344CB8AC3E}">
        <p14:creationId xmlns:p14="http://schemas.microsoft.com/office/powerpoint/2010/main" val="180012059"/>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22">
            <a:extLst xmlns:a="http://schemas.openxmlformats.org/drawingml/2006/main">
              <a:ext uri="{FF2B5EF4-FFF2-40B4-BE49-F238E27FC236}">
                <a16:creationId xmlns:a16="http://schemas.microsoft.com/office/drawing/2014/main" id="{590159A8-C08B-4CE2-84D0-034B450D8E5B}"/>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Front end: restaurant browsing</a:t>
            </a:r>
          </a:p>
        </p:txBody>
      </p:sp>
      <p:sp>
        <p:nvSpPr>
          <p:cNvPr id="2" name="text-23">
            <a:extLst xmlns:a="http://schemas.openxmlformats.org/drawingml/2006/main">
              <a:ext uri="{FF2B5EF4-FFF2-40B4-BE49-F238E27FC236}">
                <a16:creationId xmlns:a16="http://schemas.microsoft.com/office/drawing/2014/main" id="{8F5F0C8F-6710-4E5E-A257-D78AC23470CB}"/>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08</a:t>
            </a:r>
          </a:p>
        </p:txBody>
      </p:sp>
      <p:pic>
        <p:nvPicPr>
          <p:cNvPr id="3" name="">
            <a:extLst xmlns:a="http://schemas.openxmlformats.org/drawingml/2006/main">
              <a:ext uri="{FF2B5EF4-FFF2-40B4-BE49-F238E27FC236}">
                <a16:creationId xmlns:a16="http://schemas.microsoft.com/office/drawing/2014/main" id="{4F8EBE77-F26B-4747-A247-A496E72248DF}"/>
              </a:ext>
            </a:extLst>
          </p:cNvPr>
          <p:cNvPicPr>
            <a:picLocks xmlns:a="http://schemas.openxmlformats.org/drawingml/2006/main" noChangeAspect="1"/>
          </p:cNvPicPr>
          <p:nvPr/>
        </p:nvPicPr>
        <p:blipFill>
          <a:blip xmlns:r="http://schemas.openxmlformats.org/officeDocument/2006/relationships" xmlns:a="http://schemas.openxmlformats.org/drawingml/2006/main" r:embed="R67abe58a396a4540"/>
          <a:stretch xmlns:a="http://schemas.openxmlformats.org/drawingml/2006/main"/>
        </p:blipFill>
        <p:spPr>
          <a:xfrm xmlns:a="http://schemas.openxmlformats.org/drawingml/2006/main">
            <a:off x="2032000" y="1238250"/>
            <a:ext cx="8128000" cy="4572000"/>
          </a:xfrm>
          <a:prstGeom xmlns:a="http://schemas.openxmlformats.org/drawingml/2006/main" prst="rect">
            <a:avLst/>
          </a:prstGeom>
        </p:spPr>
      </p:pic>
      <p:sp>
        <p:nvSpPr>
          <p:cNvPr id="4" name="text-24">
            <a:extLst xmlns:a="http://schemas.openxmlformats.org/drawingml/2006/main">
              <a:ext uri="{FF2B5EF4-FFF2-40B4-BE49-F238E27FC236}">
                <a16:creationId xmlns:a16="http://schemas.microsoft.com/office/drawing/2014/main" id="{9410D2CF-5DEF-42A8-954D-1E10AB6A8269}"/>
              </a:ext>
            </a:extLst>
          </p:cNvPr>
          <p:cNvSpPr>
            <a:spLocks xmlns:a="http://schemas.openxmlformats.org/drawingml/2006/main" noGrp="1"/>
          </p:cNvSpPr>
          <p:nvPr/>
        </p:nvSpPr>
        <p:spPr>
          <a:xfrm xmlns:a="http://schemas.openxmlformats.org/drawingml/2006/main">
            <a:off x="609600" y="59340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55555"/>
                </a:solidFill>
                <a:latin typeface="Arial"/>
                <a:ea typeface="Arial"/>
                <a:cs typeface="Arial"/>
              </a:defRPr>
            </a:defPPr>
          </a:lstStyle>
          <a:p xmlns:a="http://schemas.openxmlformats.org/drawingml/2006/main">
            <a:pPr>
              <a:defRPr sz="1650" b="0">
                <a:solidFill>
                  <a:srgbClr val="555555"/>
                </a:solidFill>
                <a:latin typeface="Arial"/>
                <a:ea typeface="Arial"/>
                <a:cs typeface="Arial"/>
              </a:defRPr>
            </a:pPr>
            <a:r>
              <a:rPr sz="1650" b="0">
                <a:solidFill>
                  <a:srgbClr val="555555"/>
                </a:solidFill>
                <a:latin typeface="Arial"/>
                <a:ea typeface="Arial"/>
                <a:cs typeface="Arial"/>
              </a:rPr>
              <a:t>Restaurants and menu availability load from FOOD_PROJECT.</a:t>
            </a:r>
          </a:p>
        </p:txBody>
      </p:sp>
    </p:spTree>
    <p:extLst>
      <p:ext uri="{BB962C8B-B14F-4D97-AF65-F5344CB8AC3E}">
        <p14:creationId xmlns:p14="http://schemas.microsoft.com/office/powerpoint/2010/main" val="1754923287"/>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25">
            <a:extLst xmlns:a="http://schemas.openxmlformats.org/drawingml/2006/main">
              <a:ext uri="{FF2B5EF4-FFF2-40B4-BE49-F238E27FC236}">
                <a16:creationId xmlns:a16="http://schemas.microsoft.com/office/drawing/2014/main" id="{92F25B45-743C-4666-B758-F2942D1F8EC0}"/>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Front end: menu and cart</a:t>
            </a:r>
          </a:p>
        </p:txBody>
      </p:sp>
      <p:sp>
        <p:nvSpPr>
          <p:cNvPr id="2" name="text-26">
            <a:extLst xmlns:a="http://schemas.openxmlformats.org/drawingml/2006/main">
              <a:ext uri="{FF2B5EF4-FFF2-40B4-BE49-F238E27FC236}">
                <a16:creationId xmlns:a16="http://schemas.microsoft.com/office/drawing/2014/main" id="{D0BF8585-52E7-4764-BA90-62FD22B848D7}"/>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09</a:t>
            </a:r>
          </a:p>
        </p:txBody>
      </p:sp>
      <p:pic>
        <p:nvPicPr>
          <p:cNvPr id="3" name="">
            <a:extLst xmlns:a="http://schemas.openxmlformats.org/drawingml/2006/main">
              <a:ext uri="{FF2B5EF4-FFF2-40B4-BE49-F238E27FC236}">
                <a16:creationId xmlns:a16="http://schemas.microsoft.com/office/drawing/2014/main" id="{0073D583-0B0C-416F-BF4C-762910416760}"/>
              </a:ext>
            </a:extLst>
          </p:cNvPr>
          <p:cNvPicPr>
            <a:picLocks xmlns:a="http://schemas.openxmlformats.org/drawingml/2006/main" noChangeAspect="1"/>
          </p:cNvPicPr>
          <p:nvPr/>
        </p:nvPicPr>
        <p:blipFill>
          <a:blip xmlns:r="http://schemas.openxmlformats.org/officeDocument/2006/relationships" xmlns:a="http://schemas.openxmlformats.org/drawingml/2006/main" r:embed="R1bb7ecff82604d41"/>
          <a:stretch xmlns:a="http://schemas.openxmlformats.org/drawingml/2006/main"/>
        </p:blipFill>
        <p:spPr>
          <a:xfrm xmlns:a="http://schemas.openxmlformats.org/drawingml/2006/main">
            <a:off x="2034666" y="1238250"/>
            <a:ext cx="8122669" cy="4572000"/>
          </a:xfrm>
          <a:prstGeom xmlns:a="http://schemas.openxmlformats.org/drawingml/2006/main" prst="rect">
            <a:avLst/>
          </a:prstGeom>
        </p:spPr>
      </p:pic>
      <p:sp>
        <p:nvSpPr>
          <p:cNvPr id="4" name="text-27">
            <a:extLst xmlns:a="http://schemas.openxmlformats.org/drawingml/2006/main">
              <a:ext uri="{FF2B5EF4-FFF2-40B4-BE49-F238E27FC236}">
                <a16:creationId xmlns:a16="http://schemas.microsoft.com/office/drawing/2014/main" id="{BC4FD9FD-6FF9-40DC-948B-8DE091C71543}"/>
              </a:ext>
            </a:extLst>
          </p:cNvPr>
          <p:cNvSpPr>
            <a:spLocks xmlns:a="http://schemas.openxmlformats.org/drawingml/2006/main" noGrp="1"/>
          </p:cNvSpPr>
          <p:nvPr/>
        </p:nvSpPr>
        <p:spPr>
          <a:xfrm xmlns:a="http://schemas.openxmlformats.org/drawingml/2006/main">
            <a:off x="609600" y="59340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55555"/>
                </a:solidFill>
                <a:latin typeface="Arial"/>
                <a:ea typeface="Arial"/>
                <a:cs typeface="Arial"/>
              </a:defRPr>
            </a:defPPr>
          </a:lstStyle>
          <a:p xmlns:a="http://schemas.openxmlformats.org/drawingml/2006/main">
            <a:pPr>
              <a:defRPr sz="1650" b="0">
                <a:solidFill>
                  <a:srgbClr val="555555"/>
                </a:solidFill>
                <a:latin typeface="Arial"/>
                <a:ea typeface="Arial"/>
                <a:cs typeface="Arial"/>
              </a:defRPr>
            </a:pPr>
            <a:r>
              <a:rPr sz="1650" b="0">
                <a:solidFill>
                  <a:srgbClr val="555555"/>
                </a:solidFill>
                <a:latin typeface="Arial"/>
                <a:ea typeface="Arial"/>
                <a:cs typeface="Arial"/>
              </a:rPr>
              <a:t>Two Veg Rice and one Juice total INR 350 with the delivery fee.</a:t>
            </a:r>
          </a:p>
        </p:txBody>
      </p:sp>
    </p:spTree>
    <p:extLst>
      <p:ext uri="{BB962C8B-B14F-4D97-AF65-F5344CB8AC3E}">
        <p14:creationId xmlns:p14="http://schemas.microsoft.com/office/powerpoint/2010/main" val="26469935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text-28">
            <a:extLst xmlns:a="http://schemas.openxmlformats.org/drawingml/2006/main">
              <a:ext uri="{FF2B5EF4-FFF2-40B4-BE49-F238E27FC236}">
                <a16:creationId xmlns:a16="http://schemas.microsoft.com/office/drawing/2014/main" id="{C2885C6C-713E-41F6-AB3B-D86AACDC20BA}"/>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JDBC insertion and order history</a:t>
            </a:r>
          </a:p>
        </p:txBody>
      </p:sp>
      <p:sp>
        <p:nvSpPr>
          <p:cNvPr id="2" name="text-29">
            <a:extLst xmlns:a="http://schemas.openxmlformats.org/drawingml/2006/main">
              <a:ext uri="{FF2B5EF4-FFF2-40B4-BE49-F238E27FC236}">
                <a16:creationId xmlns:a16="http://schemas.microsoft.com/office/drawing/2014/main" id="{F478E596-F2A4-4DD2-9B58-AD6E44F6AAA4}"/>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10</a:t>
            </a:r>
          </a:p>
        </p:txBody>
      </p:sp>
      <p:pic>
        <p:nvPicPr>
          <p:cNvPr id="3" name="">
            <a:extLst xmlns:a="http://schemas.openxmlformats.org/drawingml/2006/main">
              <a:ext uri="{FF2B5EF4-FFF2-40B4-BE49-F238E27FC236}">
                <a16:creationId xmlns:a16="http://schemas.microsoft.com/office/drawing/2014/main" id="{22925471-052C-4C9B-B202-AAD6D3601EF7}"/>
              </a:ext>
            </a:extLst>
          </p:cNvPr>
          <p:cNvPicPr>
            <a:picLocks xmlns:a="http://schemas.openxmlformats.org/drawingml/2006/main" noChangeAspect="1"/>
          </p:cNvPicPr>
          <p:nvPr/>
        </p:nvPicPr>
        <p:blipFill>
          <a:blip xmlns:r="http://schemas.openxmlformats.org/officeDocument/2006/relationships" xmlns:a="http://schemas.openxmlformats.org/drawingml/2006/main" r:embed="R9ab060b5fc9c4d9c"/>
          <a:stretch xmlns:a="http://schemas.openxmlformats.org/drawingml/2006/main"/>
        </p:blipFill>
        <p:spPr>
          <a:xfrm xmlns:a="http://schemas.openxmlformats.org/drawingml/2006/main">
            <a:off x="2032000" y="1238250"/>
            <a:ext cx="8128000" cy="4572000"/>
          </a:xfrm>
          <a:prstGeom xmlns:a="http://schemas.openxmlformats.org/drawingml/2006/main" prst="rect">
            <a:avLst/>
          </a:prstGeom>
        </p:spPr>
      </p:pic>
      <p:sp>
        <p:nvSpPr>
          <p:cNvPr id="4" name="text-30">
            <a:extLst xmlns:a="http://schemas.openxmlformats.org/drawingml/2006/main">
              <a:ext uri="{FF2B5EF4-FFF2-40B4-BE49-F238E27FC236}">
                <a16:creationId xmlns:a16="http://schemas.microsoft.com/office/drawing/2014/main" id="{A39FB3AC-EB35-416A-A29A-FB31FBB12091}"/>
              </a:ext>
            </a:extLst>
          </p:cNvPr>
          <p:cNvSpPr>
            <a:spLocks xmlns:a="http://schemas.openxmlformats.org/drawingml/2006/main" noGrp="1"/>
          </p:cNvSpPr>
          <p:nvPr/>
        </p:nvSpPr>
        <p:spPr>
          <a:xfrm xmlns:a="http://schemas.openxmlformats.org/drawingml/2006/main">
            <a:off x="609600" y="5934075"/>
            <a:ext cx="10810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650" b="0">
                <a:solidFill>
                  <a:srgbClr val="555555"/>
                </a:solidFill>
                <a:latin typeface="Arial"/>
                <a:ea typeface="Arial"/>
                <a:cs typeface="Arial"/>
              </a:defRPr>
            </a:defPPr>
          </a:lstStyle>
          <a:p xmlns:a="http://schemas.openxmlformats.org/drawingml/2006/main">
            <a:pPr>
              <a:defRPr sz="1650" b="0">
                <a:solidFill>
                  <a:srgbClr val="555555"/>
                </a:solidFill>
                <a:latin typeface="Arial"/>
                <a:ea typeface="Arial"/>
                <a:cs typeface="Arial"/>
              </a:defRPr>
            </a:pPr>
            <a:r>
              <a:rPr sz="1650" b="0">
                <a:solidFill>
                  <a:srgbClr val="555555"/>
                </a:solidFill>
                <a:latin typeface="Arial"/>
                <a:ea typeface="Arial"/>
                <a:cs typeface="Arial"/>
              </a:rPr>
              <a:t>The browser saved order 2005 and retrieved it from Oracle.</a:t>
            </a:r>
          </a:p>
        </p:txBody>
      </p:sp>
    </p:spTree>
    <p:extLst>
      <p:ext uri="{BB962C8B-B14F-4D97-AF65-F5344CB8AC3E}">
        <p14:creationId xmlns:p14="http://schemas.microsoft.com/office/powerpoint/2010/main" val="1544137589"/>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31">
            <a:extLst xmlns:a="http://schemas.openxmlformats.org/drawingml/2006/main">
              <a:ext uri="{FF2B5EF4-FFF2-40B4-BE49-F238E27FC236}">
                <a16:creationId xmlns:a16="http://schemas.microsoft.com/office/drawing/2014/main" id="{AB0CA29F-ADE3-4705-9375-C8DFF9259FDF}"/>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Connectivity and atomic checkout</a:t>
            </a:r>
          </a:p>
        </p:txBody>
      </p:sp>
      <p:sp>
        <p:nvSpPr>
          <p:cNvPr id="2" name="text-32">
            <a:extLst xmlns:a="http://schemas.openxmlformats.org/drawingml/2006/main">
              <a:ext uri="{FF2B5EF4-FFF2-40B4-BE49-F238E27FC236}">
                <a16:creationId xmlns:a16="http://schemas.microsoft.com/office/drawing/2014/main" id="{1ADE5EFF-FE53-478D-A126-B9A8AAA9604E}"/>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11</a:t>
            </a:r>
          </a:p>
        </p:txBody>
      </p:sp>
      <p:sp>
        <p:nvSpPr>
          <p:cNvPr id="3" name="text-33">
            <a:extLst xmlns:a="http://schemas.openxmlformats.org/drawingml/2006/main">
              <a:ext uri="{FF2B5EF4-FFF2-40B4-BE49-F238E27FC236}">
                <a16:creationId xmlns:a16="http://schemas.microsoft.com/office/drawing/2014/main" id="{38B50660-A5F4-49EC-9A85-52D52049D02E}"/>
              </a:ext>
            </a:extLst>
          </p:cNvPr>
          <p:cNvSpPr>
            <a:spLocks xmlns:a="http://schemas.openxmlformats.org/drawingml/2006/main" noGrp="1"/>
          </p:cNvSpPr>
          <p:nvPr/>
        </p:nvSpPr>
        <p:spPr>
          <a:xfrm xmlns:a="http://schemas.openxmlformats.org/drawingml/2006/main">
            <a:off x="609600" y="14763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717"/>
                </a:solidFill>
                <a:latin typeface="Arial"/>
                <a:ea typeface="Arial"/>
                <a:cs typeface="Arial"/>
              </a:defRPr>
            </a:defPPr>
          </a:lstStyle>
          <a:p xmlns:a="http://schemas.openxmlformats.org/drawingml/2006/main">
            <a:pPr>
              <a:defRPr sz="2175" b="0">
                <a:solidFill>
                  <a:srgbClr val="171717"/>
                </a:solidFill>
                <a:latin typeface="Arial"/>
                <a:ea typeface="Arial"/>
                <a:cs typeface="Arial"/>
              </a:defRPr>
            </a:pPr>
            <a:r>
              <a:rPr sz="2175" b="0">
                <a:solidFill>
                  <a:srgbClr val="171717"/>
                </a:solidFill>
                <a:latin typeface="Arial"/>
                <a:ea typeface="Arial"/>
                <a:cs typeface="Arial"/>
              </a:rPr>
              <a:t>Browser sends the customer, restaurant, cart and destination.</a:t>
            </a:r>
          </a:p>
        </p:txBody>
      </p:sp>
      <p:sp>
        <p:nvSpPr>
          <p:cNvPr id="4" name="text-34">
            <a:extLst xmlns:a="http://schemas.openxmlformats.org/drawingml/2006/main">
              <a:ext uri="{FF2B5EF4-FFF2-40B4-BE49-F238E27FC236}">
                <a16:creationId xmlns:a16="http://schemas.microsoft.com/office/drawing/2014/main" id="{6DC8D1D9-5C63-4DEF-9720-C597CA68FA14}"/>
              </a:ext>
            </a:extLst>
          </p:cNvPr>
          <p:cNvSpPr>
            <a:spLocks xmlns:a="http://schemas.openxmlformats.org/drawingml/2006/main" noGrp="1"/>
          </p:cNvSpPr>
          <p:nvPr/>
        </p:nvSpPr>
        <p:spPr>
          <a:xfrm xmlns:a="http://schemas.openxmlformats.org/drawingml/2006/main">
            <a:off x="609600" y="229552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717"/>
                </a:solidFill>
                <a:latin typeface="Arial"/>
                <a:ea typeface="Arial"/>
                <a:cs typeface="Arial"/>
              </a:defRPr>
            </a:defPPr>
          </a:lstStyle>
          <a:p xmlns:a="http://schemas.openxmlformats.org/drawingml/2006/main">
            <a:pPr>
              <a:defRPr sz="2175" b="0">
                <a:solidFill>
                  <a:srgbClr val="171717"/>
                </a:solidFill>
                <a:latin typeface="Arial"/>
                <a:ea typeface="Arial"/>
                <a:cs typeface="Arial"/>
              </a:defRPr>
            </a:pPr>
            <a:r>
              <a:rPr sz="2175" b="0">
                <a:solidFill>
                  <a:srgbClr val="171717"/>
                </a:solidFill>
                <a:latin typeface="Arial"/>
                <a:ea typeface="Arial"/>
                <a:cs typeface="Arial"/>
              </a:rPr>
              <a:t>Java reads current availability and captures agreed item prices.</a:t>
            </a:r>
          </a:p>
        </p:txBody>
      </p:sp>
      <p:sp>
        <p:nvSpPr>
          <p:cNvPr id="5" name="text-35">
            <a:extLst xmlns:a="http://schemas.openxmlformats.org/drawingml/2006/main">
              <a:ext uri="{FF2B5EF4-FFF2-40B4-BE49-F238E27FC236}">
                <a16:creationId xmlns:a16="http://schemas.microsoft.com/office/drawing/2014/main" id="{330B7FFC-D19A-4EFE-B2F3-815ECA2740C3}"/>
              </a:ext>
            </a:extLst>
          </p:cNvPr>
          <p:cNvSpPr>
            <a:spLocks xmlns:a="http://schemas.openxmlformats.org/drawingml/2006/main" noGrp="1"/>
          </p:cNvSpPr>
          <p:nvPr/>
        </p:nvSpPr>
        <p:spPr>
          <a:xfrm xmlns:a="http://schemas.openxmlformats.org/drawingml/2006/main">
            <a:off x="609600" y="31146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717"/>
                </a:solidFill>
                <a:latin typeface="Arial"/>
                <a:ea typeface="Arial"/>
                <a:cs typeface="Arial"/>
              </a:defRPr>
            </a:defPPr>
          </a:lstStyle>
          <a:p xmlns:a="http://schemas.openxmlformats.org/drawingml/2006/main">
            <a:pPr>
              <a:defRPr sz="2175" b="0">
                <a:solidFill>
                  <a:srgbClr val="171717"/>
                </a:solidFill>
                <a:latin typeface="Arial"/>
                <a:ea typeface="Arial"/>
                <a:cs typeface="Arial"/>
              </a:defRPr>
            </a:pPr>
            <a:r>
              <a:rPr sz="2175" b="0">
                <a:solidFill>
                  <a:srgbClr val="171717"/>
                </a:solidFill>
                <a:latin typeface="Arial"/>
                <a:ea typeface="Arial"/>
                <a:cs typeface="Arial"/>
              </a:rPr>
              <a:t>One transaction inserts FOOD_ORDER, ORDER_ITEM and PAYMENT.</a:t>
            </a:r>
          </a:p>
        </p:txBody>
      </p:sp>
      <p:sp>
        <p:nvSpPr>
          <p:cNvPr id="6" name="text-36">
            <a:extLst xmlns:a="http://schemas.openxmlformats.org/drawingml/2006/main">
              <a:ext uri="{FF2B5EF4-FFF2-40B4-BE49-F238E27FC236}">
                <a16:creationId xmlns:a16="http://schemas.microsoft.com/office/drawing/2014/main" id="{32840416-55E2-4B8F-88A4-CD787F1BA3A0}"/>
              </a:ext>
            </a:extLst>
          </p:cNvPr>
          <p:cNvSpPr>
            <a:spLocks xmlns:a="http://schemas.openxmlformats.org/drawingml/2006/main" noGrp="1"/>
          </p:cNvSpPr>
          <p:nvPr/>
        </p:nvSpPr>
        <p:spPr>
          <a:xfrm xmlns:a="http://schemas.openxmlformats.org/drawingml/2006/main">
            <a:off x="609600" y="393382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717"/>
                </a:solidFill>
                <a:latin typeface="Arial"/>
                <a:ea typeface="Arial"/>
                <a:cs typeface="Arial"/>
              </a:defRPr>
            </a:defPPr>
          </a:lstStyle>
          <a:p xmlns:a="http://schemas.openxmlformats.org/drawingml/2006/main">
            <a:pPr>
              <a:defRPr sz="2175" b="0">
                <a:solidFill>
                  <a:srgbClr val="171717"/>
                </a:solidFill>
                <a:latin typeface="Arial"/>
                <a:ea typeface="Arial"/>
                <a:cs typeface="Arial"/>
              </a:defRPr>
            </a:pPr>
            <a:r>
              <a:rPr sz="2175" b="0">
                <a:solidFill>
                  <a:srgbClr val="171717"/>
                </a:solidFill>
                <a:latin typeface="Arial"/>
                <a:ea typeface="Arial"/>
                <a:cs typeface="Arial"/>
              </a:rPr>
              <a:t>The service commits on success and rolls back on failure.</a:t>
            </a:r>
          </a:p>
        </p:txBody>
      </p:sp>
      <p:sp>
        <p:nvSpPr>
          <p:cNvPr id="7" name="text-37">
            <a:extLst xmlns:a="http://schemas.openxmlformats.org/drawingml/2006/main">
              <a:ext uri="{FF2B5EF4-FFF2-40B4-BE49-F238E27FC236}">
                <a16:creationId xmlns:a16="http://schemas.microsoft.com/office/drawing/2014/main" id="{1F8AC0DA-BBBB-4940-8926-D392C63B7BFF}"/>
              </a:ext>
            </a:extLst>
          </p:cNvPr>
          <p:cNvSpPr>
            <a:spLocks xmlns:a="http://schemas.openxmlformats.org/drawingml/2006/main" noGrp="1"/>
          </p:cNvSpPr>
          <p:nvPr/>
        </p:nvSpPr>
        <p:spPr>
          <a:xfrm xmlns:a="http://schemas.openxmlformats.org/drawingml/2006/main">
            <a:off x="609600" y="4752975"/>
            <a:ext cx="10810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717"/>
                </a:solidFill>
                <a:latin typeface="Arial"/>
                <a:ea typeface="Arial"/>
                <a:cs typeface="Arial"/>
              </a:defRPr>
            </a:defPPr>
          </a:lstStyle>
          <a:p xmlns:a="http://schemas.openxmlformats.org/drawingml/2006/main">
            <a:pPr>
              <a:defRPr sz="2175" b="0">
                <a:solidFill>
                  <a:srgbClr val="171717"/>
                </a:solidFill>
                <a:latin typeface="Arial"/>
                <a:ea typeface="Arial"/>
                <a:cs typeface="Arial"/>
              </a:defRPr>
            </a:pPr>
            <a:r>
              <a:rPr sz="2175" b="0">
                <a:solidFill>
                  <a:srgbClr val="171717"/>
                </a:solidFill>
                <a:latin typeface="Arial"/>
                <a:ea typeface="Arial"/>
                <a:cs typeface="Arial"/>
              </a:rPr>
              <a:t>The browser reloads the saved order through JDBC SELECT.</a:t>
            </a:r>
          </a:p>
        </p:txBody>
      </p:sp>
    </p:spTree>
    <p:extLst>
      <p:ext uri="{BB962C8B-B14F-4D97-AF65-F5344CB8AC3E}">
        <p14:creationId xmlns:p14="http://schemas.microsoft.com/office/powerpoint/2010/main" val="33705588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text-38">
            <a:extLst xmlns:a="http://schemas.openxmlformats.org/drawingml/2006/main">
              <a:ext uri="{FF2B5EF4-FFF2-40B4-BE49-F238E27FC236}">
                <a16:creationId xmlns:a16="http://schemas.microsoft.com/office/drawing/2014/main" id="{CA47E591-B7CE-4F54-A520-EACAFB1CA928}"/>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Business logic behind the interface</a:t>
            </a:r>
          </a:p>
        </p:txBody>
      </p:sp>
      <p:sp>
        <p:nvSpPr>
          <p:cNvPr id="2" name="text-39">
            <a:extLst xmlns:a="http://schemas.openxmlformats.org/drawingml/2006/main">
              <a:ext uri="{FF2B5EF4-FFF2-40B4-BE49-F238E27FC236}">
                <a16:creationId xmlns:a16="http://schemas.microsoft.com/office/drawing/2014/main" id="{0389F516-D455-4973-9621-408418A3738D}"/>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12</a:t>
            </a:r>
          </a:p>
        </p:txBody>
      </p:sp>
      <p:graphicFrame>
        <p:nvGraphicFramePr>
          <p:cNvPr id="3" name="">
            <a:extLst xmlns:a="http://schemas.openxmlformats.org/drawingml/2006/main">
              <a:ext uri="{FF2B5EF4-FFF2-40B4-BE49-F238E27FC236}">
                <a16:creationId xmlns:a16="http://schemas.microsoft.com/office/drawing/2014/main" id="{20FDC9DB-055B-4C42-9BD8-557B3D862FB2}"/>
              </a:ext>
            </a:extLst>
          </p:cNvPr>
          <p:cNvGraphicFramePr/>
          <p:nvPr/>
        </p:nvGraphicFramePr>
        <p:xfrm>
          <a:off xmlns:a="http://schemas.openxmlformats.org/drawingml/2006/main" x="571500" y="1428750"/>
          <a:ext xmlns:a="http://schemas.openxmlformats.org/drawingml/2006/main" cx="11049000" cy="4429125"/>
        </p:xfrm>
        <a:graphic xmlns:a="http://schemas.openxmlformats.org/drawingml/2006/main">
          <a:graphicData uri="http://schemas.openxmlformats.org/drawingml/2006/table">
            <a:tbl>
              <a:tblPr/>
              <a:tblGrid>
                <a:gridCol w="3619500"/>
                <a:gridCol w="7429500"/>
              </a:tblGrid>
              <a:tr h="632732">
                <a:tc>
                  <a:txBody>
                    <a:bodyPr/>
                    <a:lstStyle/>
                    <a:p>
                      <a:r>
                        <a:rPr sz="1800" b="1">
                          <a:solidFill>
                            <a:srgbClr val="171717"/>
                          </a:solidFill>
                          <a:latin typeface="Arial"/>
                          <a:ea typeface="Arial"/>
                          <a:cs typeface="Arial"/>
                        </a:rPr>
                        <a:t>Rule</a:t>
                      </a:r>
                    </a:p>
                  </a:txBody>
                  <a:tcPr marL="91440" marR="91440" marT="45720" marB="45720">
                    <a:lnL w="9525">
                      <a:solidFill>
                        <a:srgbClr val="D6D6D6"/>
                      </a:solidFill>
                      <a:prstDash val="solid"/>
                    </a:lnL>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c>
                  <a:txBody>
                    <a:bodyPr/>
                    <a:lstStyle/>
                    <a:p>
                      <a:r>
                        <a:rPr sz="1800" b="1">
                          <a:solidFill>
                            <a:srgbClr val="171717"/>
                          </a:solidFill>
                          <a:latin typeface="Arial"/>
                          <a:ea typeface="Arial"/>
                          <a:cs typeface="Arial"/>
                        </a:rPr>
                        <a:t>Enforcement</a:t>
                      </a:r>
                    </a:p>
                  </a:txBody>
                  <a:tcPr marL="91440" marR="91440" marT="45720" marB="45720">
                    <a:lnR w="9525">
                      <a:solidFill>
                        <a:srgbClr val="D6D6D6"/>
                      </a:solidFill>
                      <a:prstDash val="solid"/>
                    </a:lnR>
                    <a:lnT w="9525">
                      <a:solidFill>
                        <a:srgbClr val="D6D6D6"/>
                      </a:solidFill>
                      <a:prstDash val="solid"/>
                    </a:lnT>
                    <a:lnB w="9525">
                      <a:solidFill>
                        <a:srgbClr val="D6D6D6"/>
                      </a:solidFill>
                      <a:prstDash val="solid"/>
                    </a:lnB>
                    <a:solidFill>
                      <a:srgbClr val="EEEEEE"/>
                    </a:solidFill>
                  </a:tcPr>
                </a:tc>
              </a:tr>
              <a:tr h="632732">
                <a:tc>
                  <a:txBody>
                    <a:bodyPr/>
                    <a:lstStyle/>
                    <a:p>
                      <a:r>
                        <a:rPr sz="1800" b="0">
                          <a:solidFill>
                            <a:srgbClr val="171717"/>
                          </a:solidFill>
                          <a:latin typeface="Arial"/>
                          <a:ea typeface="Arial"/>
                          <a:cs typeface="Arial"/>
                        </a:rPr>
                        <a:t>One restaurant per order</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Check each menu item against the order restaurant</a:t>
                      </a:r>
                    </a:p>
                  </a:txBody>
                  <a:tcPr marL="91440" marR="91440" marT="45720" marB="45720">
                    <a:lnR w="9525">
                      <a:solidFill>
                        <a:srgbClr val="D6D6D6"/>
                      </a:solidFill>
                      <a:prstDash val="solid"/>
                    </a:lnR>
                    <a:lnB w="9525">
                      <a:solidFill>
                        <a:srgbClr val="D6D6D6"/>
                      </a:solidFill>
                      <a:prstDash val="solid"/>
                    </a:lnB>
                    <a:solidFill>
                      <a:srgbClr val="FFFFFF"/>
                    </a:solidFill>
                  </a:tcPr>
                </a:tc>
              </a:tr>
              <a:tr h="632732">
                <a:tc>
                  <a:txBody>
                    <a:bodyPr/>
                    <a:lstStyle/>
                    <a:p>
                      <a:r>
                        <a:rPr sz="1800" b="0">
                          <a:solidFill>
                            <a:srgbClr val="171717"/>
                          </a:solidFill>
                          <a:latin typeface="Arial"/>
                          <a:ea typeface="Arial"/>
                          <a:cs typeface="Arial"/>
                        </a:rPr>
                        <a:t>Valid cart</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Require items, availability and positive integer quantities</a:t>
                      </a:r>
                    </a:p>
                  </a:txBody>
                  <a:tcPr marL="91440" marR="91440" marT="45720" marB="45720">
                    <a:lnR w="9525">
                      <a:solidFill>
                        <a:srgbClr val="D6D6D6"/>
                      </a:solidFill>
                      <a:prstDash val="solid"/>
                    </a:lnR>
                    <a:lnB w="9525">
                      <a:solidFill>
                        <a:srgbClr val="D6D6D6"/>
                      </a:solidFill>
                      <a:prstDash val="solid"/>
                    </a:lnB>
                    <a:solidFill>
                      <a:srgbClr val="FFFFFF"/>
                    </a:solidFill>
                  </a:tcPr>
                </a:tc>
              </a:tr>
              <a:tr h="632732">
                <a:tc>
                  <a:txBody>
                    <a:bodyPr/>
                    <a:lstStyle/>
                    <a:p>
                      <a:r>
                        <a:rPr sz="1800" b="0">
                          <a:solidFill>
                            <a:srgbClr val="171717"/>
                          </a:solidFill>
                          <a:latin typeface="Arial"/>
                          <a:ea typeface="Arial"/>
                          <a:cs typeface="Arial"/>
                        </a:rPr>
                        <a:t>Historical integrity</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Capture prices and destination when placing the order</a:t>
                      </a:r>
                    </a:p>
                  </a:txBody>
                  <a:tcPr marL="91440" marR="91440" marT="45720" marB="45720">
                    <a:lnR w="9525">
                      <a:solidFill>
                        <a:srgbClr val="D6D6D6"/>
                      </a:solidFill>
                      <a:prstDash val="solid"/>
                    </a:lnR>
                    <a:lnB w="9525">
                      <a:solidFill>
                        <a:srgbClr val="D6D6D6"/>
                      </a:solidFill>
                      <a:prstDash val="solid"/>
                    </a:lnB>
                    <a:solidFill>
                      <a:srgbClr val="FFFFFF"/>
                    </a:solidFill>
                  </a:tcPr>
                </a:tc>
              </a:tr>
              <a:tr h="632732">
                <a:tc>
                  <a:txBody>
                    <a:bodyPr/>
                    <a:lstStyle/>
                    <a:p>
                      <a:r>
                        <a:rPr sz="1800" b="0">
                          <a:solidFill>
                            <a:srgbClr val="171717"/>
                          </a:solidFill>
                          <a:latin typeface="Arial"/>
                          <a:ea typeface="Arial"/>
                          <a:cs typeface="Arial"/>
                        </a:rPr>
                        <a:t>Workflow transitions</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Allow ordered preparation steps and early cancellation</a:t>
                      </a:r>
                    </a:p>
                  </a:txBody>
                  <a:tcPr marL="91440" marR="91440" marT="45720" marB="45720">
                    <a:lnR w="9525">
                      <a:solidFill>
                        <a:srgbClr val="D6D6D6"/>
                      </a:solidFill>
                      <a:prstDash val="solid"/>
                    </a:lnR>
                    <a:lnB w="9525">
                      <a:solidFill>
                        <a:srgbClr val="D6D6D6"/>
                      </a:solidFill>
                      <a:prstDash val="solid"/>
                    </a:lnB>
                    <a:solidFill>
                      <a:srgbClr val="FFFFFF"/>
                    </a:solidFill>
                  </a:tcPr>
                </a:tc>
              </a:tr>
              <a:tr h="632732">
                <a:tc>
                  <a:txBody>
                    <a:bodyPr/>
                    <a:lstStyle/>
                    <a:p>
                      <a:r>
                        <a:rPr sz="1800" b="0">
                          <a:solidFill>
                            <a:srgbClr val="171717"/>
                          </a:solidFill>
                          <a:latin typeface="Arial"/>
                          <a:ea typeface="Arial"/>
                          <a:cs typeface="Arial"/>
                        </a:rPr>
                        <a:t>Payment consistency</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Require matching successful payment before delivery</a:t>
                      </a:r>
                    </a:p>
                  </a:txBody>
                  <a:tcPr marL="91440" marR="91440" marT="45720" marB="45720">
                    <a:lnR w="9525">
                      <a:solidFill>
                        <a:srgbClr val="D6D6D6"/>
                      </a:solidFill>
                      <a:prstDash val="solid"/>
                    </a:lnR>
                    <a:lnB w="9525">
                      <a:solidFill>
                        <a:srgbClr val="D6D6D6"/>
                      </a:solidFill>
                      <a:prstDash val="solid"/>
                    </a:lnB>
                    <a:solidFill>
                      <a:srgbClr val="FFFFFF"/>
                    </a:solidFill>
                  </a:tcPr>
                </a:tc>
              </a:tr>
              <a:tr h="632732">
                <a:tc>
                  <a:txBody>
                    <a:bodyPr/>
                    <a:lstStyle/>
                    <a:p>
                      <a:r>
                        <a:rPr sz="1800" b="0">
                          <a:solidFill>
                            <a:srgbClr val="171717"/>
                          </a:solidFill>
                          <a:latin typeface="Arial"/>
                          <a:ea typeface="Arial"/>
                          <a:cs typeface="Arial"/>
                        </a:rPr>
                        <a:t>Partner availability</a:t>
                      </a:r>
                    </a:p>
                  </a:txBody>
                  <a:tcPr marL="91440" marR="91440" marT="45720" marB="45720">
                    <a:lnL w="9525">
                      <a:solidFill>
                        <a:srgbClr val="D6D6D6"/>
                      </a:solidFill>
                      <a:prstDash val="solid"/>
                    </a:lnL>
                    <a:lnR w="9525">
                      <a:solidFill>
                        <a:srgbClr val="D6D6D6"/>
                      </a:solidFill>
                      <a:prstDash val="solid"/>
                    </a:lnR>
                    <a:lnB w="9525">
                      <a:solidFill>
                        <a:srgbClr val="D6D6D6"/>
                      </a:solidFill>
                      <a:prstDash val="solid"/>
                    </a:lnB>
                    <a:solidFill>
                      <a:srgbClr val="FFFFFF"/>
                    </a:solidFill>
                  </a:tcPr>
                </a:tc>
                <a:tc>
                  <a:txBody>
                    <a:bodyPr/>
                    <a:lstStyle/>
                    <a:p>
                      <a:r>
                        <a:rPr sz="1800" b="0">
                          <a:solidFill>
                            <a:srgbClr val="171717"/>
                          </a:solidFill>
                          <a:latin typeface="Arial"/>
                          <a:ea typeface="Arial"/>
                          <a:cs typeface="Arial"/>
                        </a:rPr>
                        <a:t>Assign AVAILABLE partners and release after delivery</a:t>
                      </a:r>
                    </a:p>
                  </a:txBody>
                  <a:tcPr marL="91440" marR="91440" marT="45720" marB="45720">
                    <a:lnR w="9525">
                      <a:solidFill>
                        <a:srgbClr val="D6D6D6"/>
                      </a:solidFill>
                      <a:prstDash val="solid"/>
                    </a:lnR>
                    <a:lnB w="9525">
                      <a:solidFill>
                        <a:srgbClr val="D6D6D6"/>
                      </a:solidFill>
                      <a:prstDash val="solid"/>
                    </a:lnB>
                    <a:solidFill>
                      <a:srgbClr val="FFFFFF"/>
                    </a:solidFill>
                  </a:tcPr>
                </a:tc>
              </a:tr>
            </a:tbl>
          </a:graphicData>
        </a:graphic>
      </p:graphicFrame>
    </p:spTree>
    <p:extLst>
      <p:ext uri="{BB962C8B-B14F-4D97-AF65-F5344CB8AC3E}">
        <p14:creationId xmlns:p14="http://schemas.microsoft.com/office/powerpoint/2010/main" val="837675763"/>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text-40">
            <a:extLst xmlns:a="http://schemas.openxmlformats.org/drawingml/2006/main">
              <a:ext uri="{FF2B5EF4-FFF2-40B4-BE49-F238E27FC236}">
                <a16:creationId xmlns:a16="http://schemas.microsoft.com/office/drawing/2014/main" id="{904CB828-CAFA-4B63-8E6B-8487D89AACD1}"/>
              </a:ext>
            </a:extLst>
          </p:cNvPr>
          <p:cNvSpPr>
            <a:spLocks xmlns:a="http://schemas.openxmlformats.org/drawingml/2006/main" noGrp="1"/>
          </p:cNvSpPr>
          <p:nvPr/>
        </p:nvSpPr>
        <p:spPr>
          <a:xfrm xmlns:a="http://schemas.openxmlformats.org/drawingml/2006/main">
            <a:off x="571500" y="361950"/>
            <a:ext cx="1095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150" b="1">
                <a:solidFill>
                  <a:srgbClr val="171717"/>
                </a:solidFill>
                <a:latin typeface="Arial"/>
                <a:ea typeface="Arial"/>
                <a:cs typeface="Arial"/>
              </a:defRPr>
            </a:defPPr>
          </a:lstStyle>
          <a:p xmlns:a="http://schemas.openxmlformats.org/drawingml/2006/main">
            <a:pPr>
              <a:defRPr sz="3150" b="1">
                <a:solidFill>
                  <a:srgbClr val="171717"/>
                </a:solidFill>
                <a:latin typeface="Arial"/>
                <a:ea typeface="Arial"/>
                <a:cs typeface="Arial"/>
              </a:defRPr>
            </a:pPr>
            <a:r>
              <a:rPr sz="3150" b="1">
                <a:solidFill>
                  <a:srgbClr val="171717"/>
                </a:solidFill>
                <a:latin typeface="Arial"/>
                <a:ea typeface="Arial"/>
                <a:cs typeface="Arial"/>
              </a:rPr>
              <a:t>Testing and Phase 3 work</a:t>
            </a:r>
          </a:p>
        </p:txBody>
      </p:sp>
      <p:sp>
        <p:nvSpPr>
          <p:cNvPr id="2" name="text-41">
            <a:extLst xmlns:a="http://schemas.openxmlformats.org/drawingml/2006/main">
              <a:ext uri="{FF2B5EF4-FFF2-40B4-BE49-F238E27FC236}">
                <a16:creationId xmlns:a16="http://schemas.microsoft.com/office/drawing/2014/main" id="{5D46E913-E7C9-4F72-9E85-B4C0B1A6583A}"/>
              </a:ext>
            </a:extLst>
          </p:cNvPr>
          <p:cNvSpPr>
            <a:spLocks xmlns:a="http://schemas.openxmlformats.org/drawingml/2006/main" noGrp="1"/>
          </p:cNvSpPr>
          <p:nvPr/>
        </p:nvSpPr>
        <p:spPr>
          <a:xfrm xmlns:a="http://schemas.openxmlformats.org/drawingml/2006/main">
            <a:off x="11239500" y="6429375"/>
            <a:ext cx="42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1125" b="0">
                <a:solidFill>
                  <a:srgbClr val="777777"/>
                </a:solidFill>
                <a:latin typeface="Arial"/>
                <a:ea typeface="Arial"/>
                <a:cs typeface="Arial"/>
              </a:defRPr>
            </a:defPPr>
          </a:lstStyle>
          <a:p xmlns:a="http://schemas.openxmlformats.org/drawingml/2006/main">
            <a:pPr>
              <a:defRPr sz="1125" b="0">
                <a:solidFill>
                  <a:srgbClr val="777777"/>
                </a:solidFill>
                <a:latin typeface="Arial"/>
                <a:ea typeface="Arial"/>
                <a:cs typeface="Arial"/>
              </a:defRPr>
            </a:pPr>
            <a:r>
              <a:rPr sz="1125" b="0">
                <a:solidFill>
                  <a:srgbClr val="777777"/>
                </a:solidFill>
                <a:latin typeface="Arial"/>
                <a:ea typeface="Arial"/>
                <a:cs typeface="Arial"/>
              </a:rPr>
              <a:t>13</a:t>
            </a:r>
          </a:p>
        </p:txBody>
      </p:sp>
      <p:sp>
        <p:nvSpPr>
          <p:cNvPr id="3" name="text-42">
            <a:extLst xmlns:a="http://schemas.openxmlformats.org/drawingml/2006/main">
              <a:ext uri="{FF2B5EF4-FFF2-40B4-BE49-F238E27FC236}">
                <a16:creationId xmlns:a16="http://schemas.microsoft.com/office/drawing/2014/main" id="{F267E93C-45F6-4480-A439-7FC998FD88F7}"/>
              </a:ext>
            </a:extLst>
          </p:cNvPr>
          <p:cNvSpPr>
            <a:spLocks xmlns:a="http://schemas.openxmlformats.org/drawingml/2006/main" noGrp="1"/>
          </p:cNvSpPr>
          <p:nvPr/>
        </p:nvSpPr>
        <p:spPr>
          <a:xfrm xmlns:a="http://schemas.openxmlformats.org/drawingml/2006/main">
            <a:off x="609600" y="142875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3375" b="1">
                <a:solidFill>
                  <a:srgbClr val="171717"/>
                </a:solidFill>
                <a:latin typeface="Arial"/>
                <a:ea typeface="Arial"/>
                <a:cs typeface="Arial"/>
              </a:defRPr>
            </a:defPPr>
          </a:lstStyle>
          <a:p xmlns:a="http://schemas.openxmlformats.org/drawingml/2006/main">
            <a:pPr>
              <a:defRPr sz="3375" b="1">
                <a:solidFill>
                  <a:srgbClr val="171717"/>
                </a:solidFill>
                <a:latin typeface="Arial"/>
                <a:ea typeface="Arial"/>
                <a:cs typeface="Arial"/>
              </a:defRPr>
            </a:pPr>
            <a:r>
              <a:rPr sz="3375" b="1">
                <a:solidFill>
                  <a:srgbClr val="171717"/>
                </a:solidFill>
                <a:latin typeface="Arial"/>
                <a:ea typeface="Arial"/>
                <a:cs typeface="Arial"/>
              </a:rPr>
              <a:t>46 JDBC checks passed</a:t>
            </a:r>
          </a:p>
        </p:txBody>
      </p:sp>
      <p:sp>
        <p:nvSpPr>
          <p:cNvPr id="4" name="text-43">
            <a:extLst xmlns:a="http://schemas.openxmlformats.org/drawingml/2006/main">
              <a:ext uri="{FF2B5EF4-FFF2-40B4-BE49-F238E27FC236}">
                <a16:creationId xmlns:a16="http://schemas.microsoft.com/office/drawing/2014/main" id="{1EDAC007-328D-44C7-8779-3F24453D567A}"/>
              </a:ext>
            </a:extLst>
          </p:cNvPr>
          <p:cNvSpPr>
            <a:spLocks xmlns:a="http://schemas.openxmlformats.org/drawingml/2006/main" noGrp="1"/>
          </p:cNvSpPr>
          <p:nvPr/>
        </p:nvSpPr>
        <p:spPr>
          <a:xfrm xmlns:a="http://schemas.openxmlformats.org/drawingml/2006/main">
            <a:off x="609600" y="2543175"/>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717"/>
                </a:solidFill>
                <a:latin typeface="Arial"/>
                <a:ea typeface="Arial"/>
                <a:cs typeface="Arial"/>
              </a:defRPr>
            </a:defPPr>
          </a:lstStyle>
          <a:p xmlns:a="http://schemas.openxmlformats.org/drawingml/2006/main">
            <a:pPr>
              <a:defRPr sz="2175" b="0">
                <a:solidFill>
                  <a:srgbClr val="171717"/>
                </a:solidFill>
                <a:latin typeface="Arial"/>
                <a:ea typeface="Arial"/>
                <a:cs typeface="Arial"/>
              </a:defRPr>
            </a:pPr>
            <a:r>
              <a:rPr sz="2175" b="0">
                <a:solidFill>
                  <a:srgbClr val="171717"/>
                </a:solidFill>
                <a:latin typeface="Arial"/>
                <a:ea typeface="Arial"/>
                <a:cs typeface="Arial"/>
              </a:rPr>
              <a:t>Tests cover rollback, invalid carts, keys, payment and delivery rules.</a:t>
            </a:r>
          </a:p>
        </p:txBody>
      </p:sp>
      <p:sp>
        <p:nvSpPr>
          <p:cNvPr id="5" name="text-44">
            <a:extLst xmlns:a="http://schemas.openxmlformats.org/drawingml/2006/main">
              <a:ext uri="{FF2B5EF4-FFF2-40B4-BE49-F238E27FC236}">
                <a16:creationId xmlns:a16="http://schemas.microsoft.com/office/drawing/2014/main" id="{6CFE504D-6FBC-47BA-9EDC-428D3122C95D}"/>
              </a:ext>
            </a:extLst>
          </p:cNvPr>
          <p:cNvSpPr>
            <a:spLocks xmlns:a="http://schemas.openxmlformats.org/drawingml/2006/main" noGrp="1"/>
          </p:cNvSpPr>
          <p:nvPr/>
        </p:nvSpPr>
        <p:spPr>
          <a:xfrm xmlns:a="http://schemas.openxmlformats.org/drawingml/2006/main">
            <a:off x="609600" y="335280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717"/>
                </a:solidFill>
                <a:latin typeface="Arial"/>
                <a:ea typeface="Arial"/>
                <a:cs typeface="Arial"/>
              </a:defRPr>
            </a:defPPr>
          </a:lstStyle>
          <a:p xmlns:a="http://schemas.openxmlformats.org/drawingml/2006/main">
            <a:pPr>
              <a:defRPr sz="2175" b="0">
                <a:solidFill>
                  <a:srgbClr val="171717"/>
                </a:solidFill>
                <a:latin typeface="Arial"/>
                <a:ea typeface="Arial"/>
                <a:cs typeface="Arial"/>
              </a:defRPr>
            </a:pPr>
            <a:r>
              <a:rPr sz="2175" b="0">
                <a:solidFill>
                  <a:srgbClr val="171717"/>
                </a:solidFill>
                <a:latin typeface="Arial"/>
                <a:ea typeface="Arial"/>
                <a:cs typeface="Arial"/>
              </a:rPr>
              <a:t>The browser demonstration saved and retrieved a real Oracle order.</a:t>
            </a:r>
          </a:p>
        </p:txBody>
      </p:sp>
      <p:sp>
        <p:nvSpPr>
          <p:cNvPr id="6" name="text-45">
            <a:extLst xmlns:a="http://schemas.openxmlformats.org/drawingml/2006/main">
              <a:ext uri="{FF2B5EF4-FFF2-40B4-BE49-F238E27FC236}">
                <a16:creationId xmlns:a16="http://schemas.microsoft.com/office/drawing/2014/main" id="{2018AEC2-8D34-4B7F-A5D1-FCE3F01F36EF}"/>
              </a:ext>
            </a:extLst>
          </p:cNvPr>
          <p:cNvSpPr>
            <a:spLocks xmlns:a="http://schemas.openxmlformats.org/drawingml/2006/main" noGrp="1"/>
          </p:cNvSpPr>
          <p:nvPr/>
        </p:nvSpPr>
        <p:spPr>
          <a:xfrm xmlns:a="http://schemas.openxmlformats.org/drawingml/2006/main">
            <a:off x="609600" y="4162425"/>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717"/>
                </a:solidFill>
                <a:latin typeface="Arial"/>
                <a:ea typeface="Arial"/>
                <a:cs typeface="Arial"/>
              </a:defRPr>
            </a:defPPr>
          </a:lstStyle>
          <a:p xmlns:a="http://schemas.openxmlformats.org/drawingml/2006/main">
            <a:pPr>
              <a:defRPr sz="2175" b="0">
                <a:solidFill>
                  <a:srgbClr val="171717"/>
                </a:solidFill>
                <a:latin typeface="Arial"/>
                <a:ea typeface="Arial"/>
                <a:cs typeface="Arial"/>
              </a:defRPr>
            </a:pPr>
            <a:r>
              <a:rPr sz="2175" b="0">
                <a:solidFill>
                  <a:srgbClr val="171717"/>
                </a:solidFill>
                <a:latin typeface="Arial"/>
                <a:ea typeface="Arial"/>
                <a:cs typeface="Arial"/>
              </a:rPr>
              <a:t>Phase 3: complete remaining CRUD screens, broader testing and final report.</a:t>
            </a:r>
          </a:p>
        </p:txBody>
      </p:sp>
      <p:sp>
        <p:nvSpPr>
          <p:cNvPr id="7" name="text-46">
            <a:extLst xmlns:a="http://schemas.openxmlformats.org/drawingml/2006/main">
              <a:ext uri="{FF2B5EF4-FFF2-40B4-BE49-F238E27FC236}">
                <a16:creationId xmlns:a16="http://schemas.microsoft.com/office/drawing/2014/main" id="{D6601738-18D7-4671-B4FF-68A5C2BBF443}"/>
              </a:ext>
            </a:extLst>
          </p:cNvPr>
          <p:cNvSpPr>
            <a:spLocks xmlns:a="http://schemas.openxmlformats.org/drawingml/2006/main" noGrp="1"/>
          </p:cNvSpPr>
          <p:nvPr/>
        </p:nvSpPr>
        <p:spPr>
          <a:xfrm xmlns:a="http://schemas.openxmlformats.org/drawingml/2006/main">
            <a:off x="609600" y="4972050"/>
            <a:ext cx="1081087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defRPr sz="2175" b="0">
                <a:solidFill>
                  <a:srgbClr val="171717"/>
                </a:solidFill>
                <a:latin typeface="Arial"/>
                <a:ea typeface="Arial"/>
                <a:cs typeface="Arial"/>
              </a:defRPr>
            </a:defPPr>
          </a:lstStyle>
          <a:p xmlns:a="http://schemas.openxmlformats.org/drawingml/2006/main">
            <a:pPr>
              <a:defRPr sz="2175" b="0">
                <a:solidFill>
                  <a:srgbClr val="171717"/>
                </a:solidFill>
                <a:latin typeface="Arial"/>
                <a:ea typeface="Arial"/>
                <a:cs typeface="Arial"/>
              </a:defRPr>
            </a:pPr>
            <a:r>
              <a:rPr sz="2175" b="0">
                <a:solidFill>
                  <a:srgbClr val="171717"/>
                </a:solidFill>
                <a:latin typeface="Arial"/>
                <a:ea typeface="Arial"/>
                <a:cs typeface="Arial"/>
              </a:rPr>
              <a:t>Demo roles and simulated payments remain within the stated scope.</a:t>
            </a:r>
          </a:p>
        </p:txBody>
      </p:sp>
    </p:spTree>
    <p:extLst>
      <p:ext uri="{BB962C8B-B14F-4D97-AF65-F5344CB8AC3E}">
        <p14:creationId xmlns:p14="http://schemas.microsoft.com/office/powerpoint/2010/main" val="23748104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2026-10-12T15:09:45.4580000Z</dcterms:created>
  <dcterms:modified xsi:type="dcterms:W3CDTF">2026-10-12T15:09:45.4590000Z</dcterms:modified>
</coreProperties>
</file>